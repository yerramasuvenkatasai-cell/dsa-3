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 dark opening slide, crimson accent matching our GUI header. LAYOUT: kicker, big title, team cards. Good morning, Professor. We are Venkat Sai, Rakesh and Abhishek, and our project for 25CS2103E is a string matching workbench. We implemented five algorithms from scratch, with the Z-Algorithm as our centrepiece, and built a Java Swing application so every algorithm can be run, timed and explained on screen. I'll walk you through the problem, the design, each algorithm, and finally our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 light content slide. LAYOUT: dark problem banner, three motivation cards, goal line. Our problem is simple to state: find every place a pattern occurs inside a text. The naive method can cost n times m, which hurts when n is a genome or a huge source file. Bioinformatics searches DNA motifs over a four-letter alphabet, compilers scan code for tokens, and every text editor's Find box does this. So our goal was to reach linear time and to see how five different ideas behave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 light. LAYOUT: left, the three GUI zones stacked like the real window (crimson top, teal bottom panes); right, data-flow steps. Our window has two panes. The top holds the inputs: target text, pattern, an algorithm dropdown, and four buttons including a worst-case demo. The bottom is split in two. Pane one shows the numbers: n, m, execution time, match count and positions. Pane two explains the algorithm, including the Z-array or LPS table. So the professor sees the result and the reasoning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 light. LAYOUT: two cards (data structure, interface) above a polymorphism strip. This slide is about engineering integrity. We built our own CustomArrayList, a dynamic array that grows as matches are found, instead of leaning on library collections. And every algorithm implements one PatternMatcher interface. That means the GUI just calls the interface, the dropdown picks the implementation, and all five are timed under identical conditions. Adding a sixth algorithm would not change the GUI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 light proof slide. LAYOUT: 3×2 grid, five annotated screenshots plus a reading guide. These are our real runs, one per algorithm. Naive found three matches of ABCDAB, at 3, 9 and 13. Z found AAB at 0 and 4, and pane two previews the Z-array. KMP found its single match at 10 and shows the LPS array. Boyer-Moore located EXAMPLE at 17 and Rabin-Karp found 265 inside the digits of pi at 6. Positions are zero-based indices; the C value is index plus one. Note these timings are single runs on tiny inputs, so differences of hundredths of a millisecond are noise; the real comparison is slide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 light. LAYOUT: mechanics left, best/worst/space cards right, evidence line below. Naive search is our baseline. It tries every alignment and compares character by character. When a mismatch happens it throws away what it learned and moves to the next shift. If the first character always fails, it's linear, O(n). If the text is all A's and the pattern is A's ending in B, it does nearly m comparisons at every shift, which gives O(n times m). It needs no extra memory. In our run, shift zero matched A, B, C and failed at the fourth character, which is exactly this backtracking.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 light, the visual centrepiece. LAYOUT: two explanation columns above a Z-array strip with the two matches highlighted in crimson. This is our main algorithm. We glue the pattern, a hash separator and the text into one string. The Z-array says, for each position, how long a prefix of that string starts there. Because the separator can't appear in the text, a value of exactly m means a full pattern match, and the text index is i minus m minus one. The Z-box [L, R] remembers the rightmost window we have matched so we can copy earlier answers instead of re-comparing. R only moves right, so total work is linear. Here the Z-array has threes at positions 4 and 8, giving matches at 0 and 4, exactly what our GUI printed.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 light. LAYOUT: mechanics and complexity cards over the LPS table from our screenshot. KMP's insight is that a mismatch still tells us something about the text we already read. We precompute the LPS table: for each prefix of the pattern, the longest proper prefix that is also a suffix. After a mismatch we use that table to slide the pattern forward without ever moving the text pointer back, so there is zero text backtracking. The pointer j can only drop as far as it has climbed, which amortizes to O(n plus m) time and O(m) space. Our LPS for ABABCABAB is 0,0,1,2,0,1,2,3,4 and it found the match at index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 light. LAYOUT: mechanics left, complexity cards right, worked shift example in a card below. Boyer-Moore flips the direction: it compares the pattern right to left. When the last character mismatches, the bad character rule tells us how far we can jump, using a lookup table of each character's rightmost position in the pattern. If the text character isn't in the pattern at all, we skip the entire pattern length. That is why the best case is sub-linear, about n over m. Honestly, with only this heuristic the worst case is still n times m; the good suffix rule would improve it and we note that as future work. In our example the first compare was S against E, S is not in EXAMPLE, so we jumped seven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 light with one dark formula card. LAYOUT: formula card and complexity cards on top, worked hash numbers below. Rabin-Karp turns each window of text into a number using a polynomial hash modulo q, where we use q equals 101. The trick is the rolling update: to move one character right we subtract the outgoing digit, multiply by the base, and add the incoming digit, all in constant time. If the hash equals the pattern's hash we still verify character by character, because collisions happen: in our example 314 and 415 both hash to 11. Expected time is O(n plus m), worst case O(n times m) if many windows collide, and space is O(1). It found 265 at index 6, where the hash was 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 light master-table slide. LAYOUT: full-width zebra table, crimson for quadratic worst cases and teal for guaranteed linear. This is our master summary. Naive, Boyer-Moore with bad character only, and Rabin-Karp can all reach n times m in the worst case; Z and KMP are the two that guarantee O(n plus m). The price is memory: Z builds an array over the concatenated string, O(n plus m), KMP needs only O(m), naive and Rabin-Karp use constant space, and Boyer-Moore uses a table the size of the alphabet. So the right choice depends on the input: guaranteed linear, minimal memory, or fast on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 dark accent slide for the live demo. LAYOUT: two contrasting cards (degrades vs resilient), ratio statement, demo instruction. Now the live demonstration. I'll click Worst-case demo, which loads a 4,000-character repetitive input. [Fill in your measured numbers before presenting.] For the naive algorithm, the comparison count is bounded by n minus m plus one, times m; with n at 4,000 and m at 1,000 that is about three million comparisons. Z and KMP stay near n plus m, about five thousand. Wall-clock differences will be smaller than the 800 times gap in operations, because of JVM warm-up and constant factors, and I'll say that openly. The point is the shape: quadratic degradation versus linear resilience.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 light closing slide with a dark closing-statement banner. LAYOUT: findings, learnings and future-work cards, then the statement. To conclude: we built five algorithms and a workbench to compare them. Z and KMP guarantee linear time, Boyer-Moore is fastest on average, and naive and Rabin-Karp can degrade to quadratic. We learned amortized analysis, clean interface design and honest benchmarking. LIKELY VIVA QUESTIONS: (1) Why a # separator? So Z-values can't exceed m and prefix matches can't run into the text. (2) Why does KMP stay linear? j drops only as far as it has risen. (3) Why is Boyer-Moore O(n times m) worst case? Bad-character shifts can be as small as 1 on repetitive input. (4) Why verify on a Rabin-Karp hash match? Collisions, as 314 and 415 both hash to 11 mod 101. (5) Why do tiny inputs show Naive faster than Z? Constant factors and JVM warm-up dominate when n is tiny. Thank you, Professor,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60960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B2130"/>
                </a:solidFill>
                <a:latin typeface="Arial" pitchFamily="34" charset="0"/>
                <a:ea typeface="Arial" pitchFamily="34" charset="-122"/>
                <a:cs typeface="Arial"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333500"/>
            <a:ext cx="10566400" cy="4711700"/>
          </a:xfrm>
          <a:prstGeom prst="rect">
            <a:avLst/>
          </a:prstGeom>
          <a:noFill/>
          <a:ln/>
        </p:spPr>
        <p:txBody>
          <a:bodyPr wrap="square" lIns="0" tIns="0" rIns="0" bIns="0" rtlCol="0" anchor="t"/>
          <a:lstStyle>
            <a:lvl1pPr algn="l" indent="0" marL="0">
              <a:lnSpc>
                <a:spcPct val="140000"/>
              </a:lnSpc>
              <a:buNone/>
              <a:defRPr lang="en-US" sz="1600" dirty="0">
                <a:solidFill>
                  <a:srgbClr val="1B2130"/>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60960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B2130"/>
                </a:solidFill>
                <a:latin typeface="Arial" pitchFamily="34" charset="0"/>
                <a:ea typeface="Arial" pitchFamily="34" charset="-122"/>
                <a:cs typeface="Arial"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333500"/>
            <a:ext cx="10566400" cy="4711700"/>
          </a:xfrm>
          <a:prstGeom prst="rect">
            <a:avLst/>
          </a:prstGeom>
          <a:noFill/>
          <a:ln/>
        </p:spPr>
        <p:txBody>
          <a:bodyPr wrap="square" lIns="0" tIns="0" rIns="0" bIns="0" rtlCol="0" anchor="t"/>
          <a:lstStyle>
            <a:lvl1pPr algn="l" indent="0" marL="0">
              <a:lnSpc>
                <a:spcPct val="140000"/>
              </a:lnSpc>
              <a:buNone/>
              <a:defRPr lang="en-US" sz="1600" dirty="0">
                <a:solidFill>
                  <a:srgbClr val="1B2130"/>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A24"/>
        </a:solidFill>
      </p:bgPr>
    </p:bg>
    <p:spTree>
      <p:nvGrpSpPr>
        <p:cNvPr id="1" name=""/>
        <p:cNvGrpSpPr/>
        <p:nvPr/>
      </p:nvGrpSpPr>
      <p:grpSpPr>
        <a:xfrm>
          <a:off x="0" y="0"/>
          <a:ext cx="0" cy="0"/>
          <a:chOff x="0" y="0"/>
          <a:chExt cx="0" cy="0"/>
        </a:xfrm>
      </p:grpSpPr>
      <p:sp>
        <p:nvSpPr>
          <p:cNvPr id="2" name="Text 0"/>
          <p:cNvSpPr/>
          <p:nvPr/>
        </p:nvSpPr>
        <p:spPr>
          <a:xfrm>
            <a:off x="812800" y="7112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8776F"/>
                </a:solidFill>
                <a:latin typeface="Arial" pitchFamily="34" charset="0"/>
                <a:ea typeface="Arial" pitchFamily="34" charset="-122"/>
                <a:cs typeface="Arial" pitchFamily="34" charset="-120"/>
              </a:rPr>
              <a:t>25CS2103E · DATA STRUCTURES &amp; ALGORITHMS · PROJECT DEFENSE</a:t>
            </a:r>
            <a:endParaRPr lang="en-US" sz="1500" dirty="0"/>
          </a:p>
        </p:txBody>
      </p:sp>
      <p:sp>
        <p:nvSpPr>
          <p:cNvPr id="3" name="Text 1"/>
          <p:cNvSpPr/>
          <p:nvPr>
            <p:ph type="title"/>
          </p:nvPr>
        </p:nvSpPr>
        <p:spPr>
          <a:xfrm>
            <a:off x="812800" y="2001044"/>
            <a:ext cx="10883392" cy="1753592"/>
          </a:xfrm>
          <a:prstGeom prst="rect">
            <a:avLst/>
          </a:prstGeom>
          <a:noFill/>
          <a:ln/>
        </p:spPr>
        <p:txBody>
          <a:bodyPr wrap="square" lIns="0" tIns="0" rIns="0" bIns="0" rtlCol="0" anchor="t">
            <a:normAutofit/>
          </a:bodyPr>
          <a:lstStyle/>
          <a:p>
            <a:pPr algn="l" indent="0" marL="0">
              <a:lnSpc>
                <a:spcPts val="4536"/>
              </a:lnSpc>
              <a:buNone/>
            </a:pPr>
            <a:r>
              <a:rPr lang="en-US" sz="4200" b="1" i="0" dirty="0">
                <a:solidFill>
                  <a:srgbClr val="F2EFE8"/>
                </a:solidFill>
                <a:latin typeface="Arial" pitchFamily="34" charset="0"/>
                <a:ea typeface="Arial" pitchFamily="34" charset="-122"/>
                <a:cs typeface="Arial" pitchFamily="34" charset="-120"/>
              </a:rPr>
              <a:t>String Matching Using the Z-Algorithm and Other Advanced Pattern Matching Techniques</a:t>
            </a:r>
            <a:endParaRPr lang="en-US" sz="4200" dirty="0"/>
          </a:p>
        </p:txBody>
      </p:sp>
      <p:sp>
        <p:nvSpPr>
          <p:cNvPr id="4" name="Text 2"/>
          <p:cNvSpPr/>
          <p:nvPr/>
        </p:nvSpPr>
        <p:spPr>
          <a:xfrm>
            <a:off x="812800" y="3907036"/>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AEB6C4"/>
                </a:solidFill>
                <a:latin typeface="Arial" pitchFamily="34" charset="0"/>
                <a:ea typeface="Arial" pitchFamily="34" charset="-122"/>
                <a:cs typeface="Arial" pitchFamily="34" charset="-120"/>
              </a:rPr>
              <a:t>Naive · Z-Algorithm · KMP · Boyer-Moore · Rabin-Karp, built and benchmarked in a Java Swing workbench</a:t>
            </a:r>
            <a:endParaRPr lang="en-US" sz="1700" dirty="0"/>
          </a:p>
        </p:txBody>
      </p:sp>
      <p:sp>
        <p:nvSpPr>
          <p:cNvPr id="5" name="Shape 3"/>
          <p:cNvSpPr/>
          <p:nvPr/>
        </p:nvSpPr>
        <p:spPr>
          <a:xfrm>
            <a:off x="812800" y="5232400"/>
            <a:ext cx="3386634" cy="914301"/>
          </a:xfrm>
          <a:prstGeom prst="roundRect">
            <a:avLst>
              <a:gd name="adj" fmla="val 11112"/>
            </a:avLst>
          </a:prstGeom>
          <a:solidFill>
            <a:srgbClr val="202838"/>
          </a:solidFill>
          <a:ln/>
        </p:spPr>
      </p:sp>
      <p:sp>
        <p:nvSpPr>
          <p:cNvPr id="6" name="Text 4"/>
          <p:cNvSpPr/>
          <p:nvPr/>
        </p:nvSpPr>
        <p:spPr>
          <a:xfrm>
            <a:off x="990600" y="5410200"/>
            <a:ext cx="312196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EFE8"/>
                </a:solidFill>
                <a:latin typeface="Arial" pitchFamily="34" charset="0"/>
                <a:ea typeface="Arial" pitchFamily="34" charset="-122"/>
                <a:cs typeface="Arial" pitchFamily="34" charset="-120"/>
              </a:rPr>
              <a:t>Yarramasu Venkat Sai</a:t>
            </a:r>
            <a:endParaRPr lang="en-US" sz="1700" dirty="0"/>
          </a:p>
        </p:txBody>
      </p:sp>
      <p:sp>
        <p:nvSpPr>
          <p:cNvPr id="7" name="Text 5"/>
          <p:cNvSpPr/>
          <p:nvPr/>
        </p:nvSpPr>
        <p:spPr>
          <a:xfrm>
            <a:off x="990600" y="5720060"/>
            <a:ext cx="312196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EB6C4"/>
                </a:solidFill>
                <a:latin typeface="Arial" pitchFamily="34" charset="0"/>
                <a:ea typeface="Arial" pitchFamily="34" charset="-122"/>
                <a:cs typeface="Arial" pitchFamily="34" charset="-120"/>
              </a:rPr>
              <a:t>Roll No: 2520030278</a:t>
            </a:r>
            <a:endParaRPr lang="en-US" sz="1400" dirty="0"/>
          </a:p>
        </p:txBody>
      </p:sp>
      <p:sp>
        <p:nvSpPr>
          <p:cNvPr id="8" name="Shape 6"/>
          <p:cNvSpPr/>
          <p:nvPr/>
        </p:nvSpPr>
        <p:spPr>
          <a:xfrm>
            <a:off x="4402634" y="5232400"/>
            <a:ext cx="3386634" cy="914301"/>
          </a:xfrm>
          <a:prstGeom prst="roundRect">
            <a:avLst>
              <a:gd name="adj" fmla="val 11112"/>
            </a:avLst>
          </a:prstGeom>
          <a:solidFill>
            <a:srgbClr val="202838"/>
          </a:solidFill>
          <a:ln/>
        </p:spPr>
      </p:sp>
      <p:sp>
        <p:nvSpPr>
          <p:cNvPr id="9" name="Text 7"/>
          <p:cNvSpPr/>
          <p:nvPr/>
        </p:nvSpPr>
        <p:spPr>
          <a:xfrm>
            <a:off x="4580434" y="5410200"/>
            <a:ext cx="312196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EFE8"/>
                </a:solidFill>
                <a:latin typeface="Arial" pitchFamily="34" charset="0"/>
                <a:ea typeface="Arial" pitchFamily="34" charset="-122"/>
                <a:cs typeface="Arial" pitchFamily="34" charset="-120"/>
              </a:rPr>
              <a:t>Rakesh Medikonda</a:t>
            </a:r>
            <a:endParaRPr lang="en-US" sz="1700" dirty="0"/>
          </a:p>
        </p:txBody>
      </p:sp>
      <p:sp>
        <p:nvSpPr>
          <p:cNvPr id="10" name="Text 8"/>
          <p:cNvSpPr/>
          <p:nvPr/>
        </p:nvSpPr>
        <p:spPr>
          <a:xfrm>
            <a:off x="4580434" y="5720060"/>
            <a:ext cx="312196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EB6C4"/>
                </a:solidFill>
                <a:latin typeface="Arial" pitchFamily="34" charset="0"/>
                <a:ea typeface="Arial" pitchFamily="34" charset="-122"/>
                <a:cs typeface="Arial" pitchFamily="34" charset="-120"/>
              </a:rPr>
              <a:t>Roll No: 2520030035</a:t>
            </a:r>
            <a:endParaRPr lang="en-US" sz="1400" dirty="0"/>
          </a:p>
        </p:txBody>
      </p:sp>
      <p:sp>
        <p:nvSpPr>
          <p:cNvPr id="11" name="Shape 9"/>
          <p:cNvSpPr/>
          <p:nvPr/>
        </p:nvSpPr>
        <p:spPr>
          <a:xfrm>
            <a:off x="7992467" y="5232400"/>
            <a:ext cx="3386634" cy="914301"/>
          </a:xfrm>
          <a:prstGeom prst="roundRect">
            <a:avLst>
              <a:gd name="adj" fmla="val 11112"/>
            </a:avLst>
          </a:prstGeom>
          <a:solidFill>
            <a:srgbClr val="202838"/>
          </a:solidFill>
          <a:ln/>
        </p:spPr>
      </p:sp>
      <p:sp>
        <p:nvSpPr>
          <p:cNvPr id="12" name="Text 10"/>
          <p:cNvSpPr/>
          <p:nvPr/>
        </p:nvSpPr>
        <p:spPr>
          <a:xfrm>
            <a:off x="8170267" y="5410200"/>
            <a:ext cx="312196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EFE8"/>
                </a:solidFill>
                <a:latin typeface="Arial" pitchFamily="34" charset="0"/>
                <a:ea typeface="Arial" pitchFamily="34" charset="-122"/>
                <a:cs typeface="Arial" pitchFamily="34" charset="-120"/>
              </a:rPr>
              <a:t>Abhishek Kumar</a:t>
            </a:r>
            <a:endParaRPr lang="en-US" sz="1700" dirty="0"/>
          </a:p>
        </p:txBody>
      </p:sp>
      <p:sp>
        <p:nvSpPr>
          <p:cNvPr id="13" name="Text 11"/>
          <p:cNvSpPr/>
          <p:nvPr/>
        </p:nvSpPr>
        <p:spPr>
          <a:xfrm>
            <a:off x="8170267" y="5720060"/>
            <a:ext cx="312196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EB6C4"/>
                </a:solidFill>
                <a:latin typeface="Arial" pitchFamily="34" charset="0"/>
                <a:ea typeface="Arial" pitchFamily="34" charset="-122"/>
                <a:cs typeface="Arial" pitchFamily="34" charset="-120"/>
              </a:rPr>
              <a:t>Roll No: 2520030448</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130"/>
                </a:solidFill>
                <a:latin typeface="Arial" pitchFamily="34" charset="0"/>
                <a:ea typeface="Arial" pitchFamily="34" charset="-122"/>
                <a:cs typeface="Arial" pitchFamily="34" charset="-120"/>
              </a:rPr>
              <a:t>Problem Statement &amp; Real-World Motivation</a:t>
            </a:r>
            <a:endParaRPr lang="en-US" sz="3000" dirty="0"/>
          </a:p>
        </p:txBody>
      </p:sp>
      <p:sp>
        <p:nvSpPr>
          <p:cNvPr id="3" name="Shape 1"/>
          <p:cNvSpPr/>
          <p:nvPr/>
        </p:nvSpPr>
        <p:spPr>
          <a:xfrm>
            <a:off x="812800" y="1231900"/>
            <a:ext cx="10566400" cy="1262162"/>
          </a:xfrm>
          <a:prstGeom prst="roundRect">
            <a:avLst>
              <a:gd name="adj" fmla="val 8050"/>
            </a:avLst>
          </a:prstGeom>
          <a:solidFill>
            <a:srgbClr val="151A24"/>
          </a:solidFill>
          <a:ln/>
        </p:spPr>
      </p:sp>
      <p:sp>
        <p:nvSpPr>
          <p:cNvPr id="4" name="Text 2"/>
          <p:cNvSpPr/>
          <p:nvPr/>
        </p:nvSpPr>
        <p:spPr>
          <a:xfrm>
            <a:off x="1066800" y="1435100"/>
            <a:ext cx="1036015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8776F"/>
                </a:solidFill>
                <a:latin typeface="Arial" pitchFamily="34" charset="0"/>
                <a:ea typeface="Arial" pitchFamily="34" charset="-122"/>
                <a:cs typeface="Arial" pitchFamily="34" charset="-120"/>
              </a:rPr>
              <a:t>THE PROBLEM</a:t>
            </a:r>
            <a:endParaRPr lang="en-US" sz="1300" dirty="0"/>
          </a:p>
        </p:txBody>
      </p:sp>
      <p:sp>
        <p:nvSpPr>
          <p:cNvPr id="5" name="Text 3"/>
          <p:cNvSpPr/>
          <p:nvPr/>
        </p:nvSpPr>
        <p:spPr>
          <a:xfrm>
            <a:off x="1066800" y="1729680"/>
            <a:ext cx="10360152" cy="58658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2EFE8"/>
                </a:solidFill>
                <a:latin typeface="Arial" pitchFamily="34" charset="0"/>
                <a:ea typeface="Arial" pitchFamily="34" charset="-122"/>
                <a:cs typeface="Arial" pitchFamily="34" charset="-120"/>
              </a:rPr>
              <a:t>Given text T[0..n−1] and pattern P[0..m−1], report every shift i where T[i..i+m−1] = P. Brute force costs O(n·m).</a:t>
            </a:r>
            <a:endParaRPr lang="en-US" sz="1700" dirty="0"/>
          </a:p>
        </p:txBody>
      </p:sp>
      <p:sp>
        <p:nvSpPr>
          <p:cNvPr id="6" name="Shape 4"/>
          <p:cNvSpPr/>
          <p:nvPr/>
        </p:nvSpPr>
        <p:spPr>
          <a:xfrm>
            <a:off x="815975" y="2700437"/>
            <a:ext cx="3397250" cy="1432421"/>
          </a:xfrm>
          <a:prstGeom prst="roundRect">
            <a:avLst>
              <a:gd name="adj" fmla="val 6871"/>
            </a:avLst>
          </a:prstGeom>
          <a:solidFill>
            <a:srgbClr val="FFFFFF"/>
          </a:solidFill>
          <a:ln w="6350">
            <a:solidFill>
              <a:srgbClr val="DCD8CF"/>
            </a:solidFill>
            <a:prstDash val="solid"/>
          </a:ln>
        </p:spPr>
      </p:sp>
      <p:sp>
        <p:nvSpPr>
          <p:cNvPr id="7" name="Text 5"/>
          <p:cNvSpPr/>
          <p:nvPr/>
        </p:nvSpPr>
        <p:spPr>
          <a:xfrm>
            <a:off x="996950" y="2881412"/>
            <a:ext cx="312635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808F"/>
                </a:solidFill>
                <a:latin typeface="Arial" pitchFamily="34" charset="0"/>
                <a:ea typeface="Arial" pitchFamily="34" charset="-122"/>
                <a:cs typeface="Arial" pitchFamily="34" charset="-120"/>
              </a:rPr>
              <a:t>Bioinformatics</a:t>
            </a:r>
            <a:endParaRPr lang="en-US" sz="1800" dirty="0"/>
          </a:p>
        </p:txBody>
      </p:sp>
      <p:sp>
        <p:nvSpPr>
          <p:cNvPr id="8" name="Text 6"/>
          <p:cNvSpPr/>
          <p:nvPr/>
        </p:nvSpPr>
        <p:spPr>
          <a:xfrm>
            <a:off x="996950" y="3231852"/>
            <a:ext cx="3126359"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B2130"/>
                </a:solidFill>
                <a:latin typeface="Arial" pitchFamily="34" charset="0"/>
                <a:ea typeface="Arial" pitchFamily="34" charset="-122"/>
                <a:cs typeface="Arial" pitchFamily="34" charset="-120"/>
              </a:rPr>
              <a:t>Locate gene motifs in genomes of billions of bases over a tiny alphabet {A, C, G, T}.</a:t>
            </a:r>
            <a:endParaRPr lang="en-US" sz="1400" dirty="0"/>
          </a:p>
        </p:txBody>
      </p:sp>
      <p:sp>
        <p:nvSpPr>
          <p:cNvPr id="9" name="Shape 7"/>
          <p:cNvSpPr/>
          <p:nvPr/>
        </p:nvSpPr>
        <p:spPr>
          <a:xfrm>
            <a:off x="4397375" y="2700437"/>
            <a:ext cx="3397250" cy="1432421"/>
          </a:xfrm>
          <a:prstGeom prst="roundRect">
            <a:avLst>
              <a:gd name="adj" fmla="val 6871"/>
            </a:avLst>
          </a:prstGeom>
          <a:solidFill>
            <a:srgbClr val="FFFFFF"/>
          </a:solidFill>
          <a:ln w="6350">
            <a:solidFill>
              <a:srgbClr val="DCD8CF"/>
            </a:solidFill>
            <a:prstDash val="solid"/>
          </a:ln>
        </p:spPr>
      </p:sp>
      <p:sp>
        <p:nvSpPr>
          <p:cNvPr id="10" name="Text 8"/>
          <p:cNvSpPr/>
          <p:nvPr/>
        </p:nvSpPr>
        <p:spPr>
          <a:xfrm>
            <a:off x="4578350" y="2881412"/>
            <a:ext cx="312635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808F"/>
                </a:solidFill>
                <a:latin typeface="Arial" pitchFamily="34" charset="0"/>
                <a:ea typeface="Arial" pitchFamily="34" charset="-122"/>
                <a:cs typeface="Arial" pitchFamily="34" charset="-120"/>
              </a:rPr>
              <a:t>Compilers</a:t>
            </a:r>
            <a:endParaRPr lang="en-US" sz="1800" dirty="0"/>
          </a:p>
        </p:txBody>
      </p:sp>
      <p:sp>
        <p:nvSpPr>
          <p:cNvPr id="11" name="Text 9"/>
          <p:cNvSpPr/>
          <p:nvPr/>
        </p:nvSpPr>
        <p:spPr>
          <a:xfrm>
            <a:off x="4578350" y="3231852"/>
            <a:ext cx="3126359"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B2130"/>
                </a:solidFill>
                <a:latin typeface="Arial" pitchFamily="34" charset="0"/>
                <a:ea typeface="Arial" pitchFamily="34" charset="-122"/>
                <a:cs typeface="Arial" pitchFamily="34" charset="-120"/>
              </a:rPr>
              <a:t>Lexical analysis scans source text for keywords, identifiers and tokens in a single pass.</a:t>
            </a:r>
            <a:endParaRPr lang="en-US" sz="1400" dirty="0"/>
          </a:p>
        </p:txBody>
      </p:sp>
      <p:sp>
        <p:nvSpPr>
          <p:cNvPr id="12" name="Shape 10"/>
          <p:cNvSpPr/>
          <p:nvPr/>
        </p:nvSpPr>
        <p:spPr>
          <a:xfrm>
            <a:off x="7978775" y="2700437"/>
            <a:ext cx="3397250" cy="1432421"/>
          </a:xfrm>
          <a:prstGeom prst="roundRect">
            <a:avLst>
              <a:gd name="adj" fmla="val 6871"/>
            </a:avLst>
          </a:prstGeom>
          <a:solidFill>
            <a:srgbClr val="FFFFFF"/>
          </a:solidFill>
          <a:ln w="6350">
            <a:solidFill>
              <a:srgbClr val="DCD8CF"/>
            </a:solidFill>
            <a:prstDash val="solid"/>
          </a:ln>
        </p:spPr>
      </p:sp>
      <p:sp>
        <p:nvSpPr>
          <p:cNvPr id="13" name="Text 11"/>
          <p:cNvSpPr/>
          <p:nvPr/>
        </p:nvSpPr>
        <p:spPr>
          <a:xfrm>
            <a:off x="8159750" y="2881412"/>
            <a:ext cx="312635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808F"/>
                </a:solidFill>
                <a:latin typeface="Arial" pitchFamily="34" charset="0"/>
                <a:ea typeface="Arial" pitchFamily="34" charset="-122"/>
                <a:cs typeface="Arial" pitchFamily="34" charset="-120"/>
              </a:rPr>
              <a:t>Text Editors</a:t>
            </a:r>
            <a:endParaRPr lang="en-US" sz="1800" dirty="0"/>
          </a:p>
        </p:txBody>
      </p:sp>
      <p:sp>
        <p:nvSpPr>
          <p:cNvPr id="14" name="Text 12"/>
          <p:cNvSpPr/>
          <p:nvPr/>
        </p:nvSpPr>
        <p:spPr>
          <a:xfrm>
            <a:off x="8159750" y="3231852"/>
            <a:ext cx="3126359"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B2130"/>
                </a:solidFill>
                <a:latin typeface="Arial" pitchFamily="34" charset="0"/>
                <a:ea typeface="Arial" pitchFamily="34" charset="-122"/>
                <a:cs typeface="Arial" pitchFamily="34" charset="-120"/>
              </a:rPr>
              <a:t>Find and Replace must feel instant on large files while the user types.</a:t>
            </a:r>
            <a:endParaRPr lang="en-US" sz="1400" dirty="0"/>
          </a:p>
        </p:txBody>
      </p:sp>
      <p:sp>
        <p:nvSpPr>
          <p:cNvPr id="15" name="Text 13"/>
          <p:cNvSpPr/>
          <p:nvPr/>
        </p:nvSpPr>
        <p:spPr>
          <a:xfrm>
            <a:off x="812800" y="4339233"/>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23A35"/>
                </a:solidFill>
                <a:latin typeface="Arial" pitchFamily="34" charset="0"/>
                <a:ea typeface="Arial" pitchFamily="34" charset="-122"/>
                <a:cs typeface="Arial" pitchFamily="34" charset="-120"/>
              </a:rPr>
              <a:t>Goal: reach O(n+m) and compare five strategies on real behaviour.</a:t>
            </a:r>
            <a:endParaRPr lang="en-US" sz="1500" dirty="0"/>
          </a:p>
        </p:txBody>
      </p:sp>
      <p:sp>
        <p:nvSpPr>
          <p:cNvPr id="16" name="Text 14"/>
          <p:cNvSpPr/>
          <p:nvPr/>
        </p:nvSpPr>
        <p:spPr>
          <a:xfrm>
            <a:off x="812800" y="6238280"/>
            <a:ext cx="16063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25CS2103E · 2 / 13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130"/>
                </a:solidFill>
                <a:latin typeface="Arial" pitchFamily="34" charset="0"/>
                <a:ea typeface="Arial" pitchFamily="34" charset="-122"/>
                <a:cs typeface="Arial" pitchFamily="34" charset="-120"/>
              </a:rPr>
              <a:t>System Architecture &amp; Dual-Pane GUI Design</a:t>
            </a:r>
            <a:endParaRPr lang="en-US" sz="3000" dirty="0"/>
          </a:p>
        </p:txBody>
      </p:sp>
      <p:sp>
        <p:nvSpPr>
          <p:cNvPr id="3" name="Shape 1"/>
          <p:cNvSpPr/>
          <p:nvPr/>
        </p:nvSpPr>
        <p:spPr>
          <a:xfrm>
            <a:off x="812800" y="1231900"/>
            <a:ext cx="6756400" cy="1045071"/>
          </a:xfrm>
          <a:prstGeom prst="roundRect">
            <a:avLst>
              <a:gd name="adj" fmla="val 9722"/>
            </a:avLst>
          </a:prstGeom>
          <a:solidFill>
            <a:srgbClr val="B23A35"/>
          </a:solidFill>
          <a:ln/>
        </p:spPr>
      </p:sp>
      <p:sp>
        <p:nvSpPr>
          <p:cNvPr id="4" name="Text 2"/>
          <p:cNvSpPr/>
          <p:nvPr/>
        </p:nvSpPr>
        <p:spPr>
          <a:xfrm>
            <a:off x="990600" y="1384300"/>
            <a:ext cx="659282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F3F1"/>
                </a:solidFill>
                <a:latin typeface="Arial" pitchFamily="34" charset="0"/>
                <a:ea typeface="Arial" pitchFamily="34" charset="-122"/>
                <a:cs typeface="Arial" pitchFamily="34" charset="-120"/>
              </a:rPr>
              <a:t>TOP PANEL · Control</a:t>
            </a:r>
            <a:endParaRPr lang="en-US" sz="1600" dirty="0"/>
          </a:p>
        </p:txBody>
      </p:sp>
      <p:sp>
        <p:nvSpPr>
          <p:cNvPr id="5" name="Text 3"/>
          <p:cNvSpPr/>
          <p:nvPr/>
        </p:nvSpPr>
        <p:spPr>
          <a:xfrm>
            <a:off x="990600" y="1678880"/>
            <a:ext cx="659282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BF3F1"/>
                </a:solidFill>
                <a:latin typeface="Arial" pitchFamily="34" charset="0"/>
                <a:ea typeface="Arial" pitchFamily="34" charset="-122"/>
                <a:cs typeface="Arial" pitchFamily="34" charset="-120"/>
              </a:rPr>
              <a:t>Target Text · Search Pattern · Select Algorithm (1–5)</a:t>
            </a:r>
            <a:endParaRPr lang="en-US" sz="1300" dirty="0"/>
          </a:p>
          <a:p>
            <a:pPr algn="l" indent="0" marL="0">
              <a:lnSpc>
                <a:spcPts val="1755"/>
              </a:lnSpc>
              <a:buNone/>
            </a:pPr>
            <a:r>
              <a:rPr lang="en-US" sz="1300" dirty="0">
                <a:solidFill>
                  <a:srgbClr val="FBF3F1"/>
                </a:solidFill>
                <a:latin typeface="Arial" pitchFamily="34" charset="0"/>
                <a:ea typeface="Arial" pitchFamily="34" charset="-122"/>
                <a:cs typeface="Arial" pitchFamily="34" charset="-120"/>
              </a:rPr>
              <a:t>Buttons: Search &amp; Show Process · Clear · Load .txt file · Worst-case demo</a:t>
            </a:r>
            <a:endParaRPr lang="en-US" sz="1300" dirty="0"/>
          </a:p>
        </p:txBody>
      </p:sp>
      <p:sp>
        <p:nvSpPr>
          <p:cNvPr id="6" name="Shape 4"/>
          <p:cNvSpPr/>
          <p:nvPr/>
        </p:nvSpPr>
        <p:spPr>
          <a:xfrm>
            <a:off x="819150" y="2384921"/>
            <a:ext cx="6743700" cy="1057771"/>
          </a:xfrm>
          <a:prstGeom prst="roundRect">
            <a:avLst>
              <a:gd name="adj" fmla="val 9005"/>
            </a:avLst>
          </a:prstGeom>
          <a:solidFill>
            <a:srgbClr val="FFFFFF"/>
          </a:solidFill>
          <a:ln w="12700">
            <a:solidFill>
              <a:srgbClr val="17808F"/>
            </a:solidFill>
            <a:prstDash val="solid"/>
          </a:ln>
        </p:spPr>
      </p:sp>
      <p:sp>
        <p:nvSpPr>
          <p:cNvPr id="7" name="Text 5"/>
          <p:cNvSpPr/>
          <p:nvPr/>
        </p:nvSpPr>
        <p:spPr>
          <a:xfrm>
            <a:off x="1003300" y="2543671"/>
            <a:ext cx="656666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808F"/>
                </a:solidFill>
                <a:latin typeface="Arial" pitchFamily="34" charset="0"/>
                <a:ea typeface="Arial" pitchFamily="34" charset="-122"/>
                <a:cs typeface="Arial" pitchFamily="34" charset="-120"/>
              </a:rPr>
              <a:t>BOTTOM 1 · Match Results &amp; Metrics</a:t>
            </a:r>
            <a:endParaRPr lang="en-US" sz="1600" dirty="0"/>
          </a:p>
        </p:txBody>
      </p:sp>
      <p:sp>
        <p:nvSpPr>
          <p:cNvPr id="8" name="Text 6"/>
          <p:cNvSpPr/>
          <p:nvPr/>
        </p:nvSpPr>
        <p:spPr>
          <a:xfrm>
            <a:off x="1003300" y="2838252"/>
            <a:ext cx="656666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130"/>
                </a:solidFill>
                <a:latin typeface="Arial" pitchFamily="34" charset="0"/>
                <a:ea typeface="Arial" pitchFamily="34" charset="-122"/>
                <a:cs typeface="Arial" pitchFamily="34" charset="-120"/>
              </a:rPr>
              <a:t>Algorithm, n and m, execution time (ms), match count, positions as index (L:line, C:column)</a:t>
            </a:r>
            <a:endParaRPr lang="en-US" sz="1300" dirty="0"/>
          </a:p>
        </p:txBody>
      </p:sp>
      <p:sp>
        <p:nvSpPr>
          <p:cNvPr id="9" name="Shape 7"/>
          <p:cNvSpPr/>
          <p:nvPr/>
        </p:nvSpPr>
        <p:spPr>
          <a:xfrm>
            <a:off x="819150" y="3556992"/>
            <a:ext cx="6743700" cy="834926"/>
          </a:xfrm>
          <a:prstGeom prst="roundRect">
            <a:avLst>
              <a:gd name="adj" fmla="val 11408"/>
            </a:avLst>
          </a:prstGeom>
          <a:solidFill>
            <a:srgbClr val="FFFFFF"/>
          </a:solidFill>
          <a:ln w="12700">
            <a:solidFill>
              <a:srgbClr val="17808F"/>
            </a:solidFill>
            <a:prstDash val="solid"/>
          </a:ln>
        </p:spPr>
      </p:sp>
      <p:sp>
        <p:nvSpPr>
          <p:cNvPr id="10" name="Text 8"/>
          <p:cNvSpPr/>
          <p:nvPr/>
        </p:nvSpPr>
        <p:spPr>
          <a:xfrm>
            <a:off x="1003300" y="3715742"/>
            <a:ext cx="656666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808F"/>
                </a:solidFill>
                <a:latin typeface="Arial" pitchFamily="34" charset="0"/>
                <a:ea typeface="Arial" pitchFamily="34" charset="-122"/>
                <a:cs typeface="Arial" pitchFamily="34" charset="-120"/>
              </a:rPr>
              <a:t>BOTTOM 2 · Step-by-Step Process</a:t>
            </a:r>
            <a:endParaRPr lang="en-US" sz="1600" dirty="0"/>
          </a:p>
        </p:txBody>
      </p:sp>
      <p:sp>
        <p:nvSpPr>
          <p:cNvPr id="11" name="Text 9"/>
          <p:cNvSpPr/>
          <p:nvPr/>
        </p:nvSpPr>
        <p:spPr>
          <a:xfrm>
            <a:off x="1003300" y="4010323"/>
            <a:ext cx="656666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130"/>
                </a:solidFill>
                <a:latin typeface="Arial" pitchFamily="34" charset="0"/>
                <a:ea typeface="Arial" pitchFamily="34" charset="-122"/>
                <a:cs typeface="Arial" pitchFamily="34" charset="-120"/>
              </a:rPr>
              <a:t>Algorithm mechanics at a glance: core concept, complexity, Z-array or LPS preview</a:t>
            </a:r>
            <a:endParaRPr lang="en-US" sz="1300" dirty="0"/>
          </a:p>
        </p:txBody>
      </p:sp>
      <p:sp>
        <p:nvSpPr>
          <p:cNvPr id="12" name="Text 10"/>
          <p:cNvSpPr/>
          <p:nvPr/>
        </p:nvSpPr>
        <p:spPr>
          <a:xfrm>
            <a:off x="7823200" y="1785144"/>
            <a:ext cx="366268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130"/>
                </a:solidFill>
                <a:latin typeface="Arial" pitchFamily="34" charset="0"/>
                <a:ea typeface="Arial" pitchFamily="34" charset="-122"/>
                <a:cs typeface="Arial" pitchFamily="34" charset="-120"/>
              </a:rPr>
              <a:t>Data flow</a:t>
            </a:r>
            <a:endParaRPr lang="en-US" sz="1700" dirty="0"/>
          </a:p>
        </p:txBody>
      </p:sp>
      <p:sp>
        <p:nvSpPr>
          <p:cNvPr id="13" name="Text 11"/>
          <p:cNvSpPr/>
          <p:nvPr/>
        </p:nvSpPr>
        <p:spPr>
          <a:xfrm>
            <a:off x="7823200" y="2171204"/>
            <a:ext cx="3662680"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130"/>
                </a:solidFill>
                <a:latin typeface="Arial" pitchFamily="34" charset="0"/>
                <a:ea typeface="Arial" pitchFamily="34" charset="-122"/>
                <a:cs typeface="Arial" pitchFamily="34" charset="-120"/>
              </a:rPr>
              <a:t>1. User enters T, P and picks an algorithm</a:t>
            </a:r>
            <a:endParaRPr lang="en-US" sz="1500" dirty="0"/>
          </a:p>
          <a:p>
            <a:pPr algn="l" indent="0" marL="0">
              <a:lnSpc>
                <a:spcPts val="2100"/>
              </a:lnSpc>
              <a:buNone/>
            </a:pPr>
            <a:r>
              <a:rPr lang="en-US" sz="1500" dirty="0">
                <a:solidFill>
                  <a:srgbClr val="1B2130"/>
                </a:solidFill>
                <a:latin typeface="Arial" pitchFamily="34" charset="0"/>
                <a:ea typeface="Arial" pitchFamily="34" charset="-122"/>
                <a:cs typeface="Arial" pitchFamily="34" charset="-120"/>
              </a:rPr>
              <a:t>2. GUI calls the chosen PatternMatcher</a:t>
            </a:r>
            <a:endParaRPr lang="en-US" sz="1500" dirty="0"/>
          </a:p>
          <a:p>
            <a:pPr algn="l" indent="0" marL="0">
              <a:lnSpc>
                <a:spcPts val="2100"/>
              </a:lnSpc>
              <a:buNone/>
            </a:pPr>
            <a:r>
              <a:rPr lang="en-US" sz="1500" dirty="0">
                <a:solidFill>
                  <a:srgbClr val="1B2130"/>
                </a:solidFill>
                <a:latin typeface="Arial" pitchFamily="34" charset="0"/>
                <a:ea typeface="Arial" pitchFamily="34" charset="-122"/>
                <a:cs typeface="Arial" pitchFamily="34" charset="-120"/>
              </a:rPr>
              <a:t>3. Time is measured around the search</a:t>
            </a:r>
            <a:endParaRPr lang="en-US" sz="1500" dirty="0"/>
          </a:p>
          <a:p>
            <a:pPr algn="l" indent="0" marL="0">
              <a:lnSpc>
                <a:spcPts val="2100"/>
              </a:lnSpc>
              <a:buNone/>
            </a:pPr>
            <a:r>
              <a:rPr lang="en-US" sz="1500" dirty="0">
                <a:solidFill>
                  <a:srgbClr val="1B2130"/>
                </a:solidFill>
                <a:latin typeface="Arial" pitchFamily="34" charset="0"/>
                <a:ea typeface="Arial" pitchFamily="34" charset="-122"/>
                <a:cs typeface="Arial" pitchFamily="34" charset="-120"/>
              </a:rPr>
              <a:t>4. Both bottom panes update together</a:t>
            </a:r>
            <a:endParaRPr lang="en-US" sz="1500" dirty="0"/>
          </a:p>
        </p:txBody>
      </p:sp>
      <p:sp>
        <p:nvSpPr>
          <p:cNvPr id="14" name="Text 12"/>
          <p:cNvSpPr/>
          <p:nvPr/>
        </p:nvSpPr>
        <p:spPr>
          <a:xfrm>
            <a:off x="7823200" y="3365004"/>
            <a:ext cx="366268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B6472"/>
                </a:solidFill>
                <a:latin typeface="Arial" pitchFamily="34" charset="0"/>
                <a:ea typeface="Arial" pitchFamily="34" charset="-122"/>
                <a:cs typeface="Arial" pitchFamily="34" charset="-120"/>
              </a:rPr>
              <a:t>Built in Java Swing; a draggable divider separates the two result panes.</a:t>
            </a:r>
            <a:endParaRPr lang="en-US" sz="1400" dirty="0"/>
          </a:p>
        </p:txBody>
      </p:sp>
      <p:sp>
        <p:nvSpPr>
          <p:cNvPr id="15" name="Text 13"/>
          <p:cNvSpPr/>
          <p:nvPr/>
        </p:nvSpPr>
        <p:spPr>
          <a:xfrm>
            <a:off x="812800" y="6238280"/>
            <a:ext cx="16063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25CS2103E · 3 / 13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130"/>
                </a:solidFill>
                <a:latin typeface="Arial" pitchFamily="34" charset="0"/>
                <a:ea typeface="Arial" pitchFamily="34" charset="-122"/>
                <a:cs typeface="Arial" pitchFamily="34" charset="-120"/>
              </a:rPr>
              <a:t>Custom Data Structures &amp; Engineering Integrity</a:t>
            </a:r>
            <a:endParaRPr lang="en-US" sz="3000" dirty="0"/>
          </a:p>
        </p:txBody>
      </p:sp>
      <p:sp>
        <p:nvSpPr>
          <p:cNvPr id="3" name="Shape 1"/>
          <p:cNvSpPr/>
          <p:nvPr/>
        </p:nvSpPr>
        <p:spPr>
          <a:xfrm>
            <a:off x="815975" y="1235075"/>
            <a:ext cx="5175250" cy="2020094"/>
          </a:xfrm>
          <a:prstGeom prst="roundRect">
            <a:avLst>
              <a:gd name="adj" fmla="val 4872"/>
            </a:avLst>
          </a:prstGeom>
          <a:solidFill>
            <a:srgbClr val="FFFFFF"/>
          </a:solidFill>
          <a:ln w="6350">
            <a:solidFill>
              <a:srgbClr val="DCD8CF"/>
            </a:solidFill>
            <a:prstDash val="solid"/>
          </a:ln>
        </p:spPr>
      </p:sp>
      <p:sp>
        <p:nvSpPr>
          <p:cNvPr id="4" name="Text 2"/>
          <p:cNvSpPr/>
          <p:nvPr/>
        </p:nvSpPr>
        <p:spPr>
          <a:xfrm>
            <a:off x="1022350" y="1441450"/>
            <a:ext cx="490537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23A35"/>
                </a:solidFill>
                <a:latin typeface="Arial" pitchFamily="34" charset="0"/>
                <a:ea typeface="Arial" pitchFamily="34" charset="-122"/>
                <a:cs typeface="Arial" pitchFamily="34" charset="-120"/>
              </a:rPr>
              <a:t>CustomArrayList</a:t>
            </a:r>
            <a:endParaRPr lang="en-US" sz="1800" dirty="0"/>
          </a:p>
        </p:txBody>
      </p:sp>
      <p:sp>
        <p:nvSpPr>
          <p:cNvPr id="5" name="Text 3"/>
          <p:cNvSpPr/>
          <p:nvPr/>
        </p:nvSpPr>
        <p:spPr>
          <a:xfrm>
            <a:off x="1022350" y="1804591"/>
            <a:ext cx="4905375" cy="126960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130"/>
                </a:solidFill>
                <a:latin typeface="Arial" pitchFamily="34" charset="0"/>
                <a:ea typeface="Arial" pitchFamily="34" charset="-122"/>
                <a:cs typeface="Arial" pitchFamily="34" charset="-120"/>
              </a:rPr>
              <a:t>Hand-built dynamic array that stores match positions, with no java.util collections.</a:t>
            </a:r>
            <a:endParaRPr lang="en-US" sz="1400" dirty="0"/>
          </a:p>
          <a:p>
            <a:pPr algn="l" indent="0" marL="0">
              <a:lnSpc>
                <a:spcPts val="1960"/>
              </a:lnSpc>
              <a:buNone/>
            </a:pPr>
            <a:r>
              <a:rPr lang="en-US" sz="1400" dirty="0">
                <a:solidFill>
                  <a:srgbClr val="1B2130"/>
                </a:solidFill>
                <a:latin typeface="Arial" pitchFamily="34" charset="0"/>
                <a:ea typeface="Arial" pitchFamily="34" charset="-122"/>
                <a:cs typeface="Arial" pitchFamily="34" charset="-120"/>
              </a:rPr>
              <a:t>Indexed access: O(1)</a:t>
            </a:r>
            <a:endParaRPr lang="en-US" sz="1400" dirty="0"/>
          </a:p>
          <a:p>
            <a:pPr algn="l" indent="0" marL="0">
              <a:lnSpc>
                <a:spcPts val="1960"/>
              </a:lnSpc>
              <a:buNone/>
            </a:pPr>
            <a:r>
              <a:rPr lang="en-US" sz="1400" dirty="0">
                <a:solidFill>
                  <a:srgbClr val="1B2130"/>
                </a:solidFill>
                <a:latin typeface="Arial" pitchFamily="34" charset="0"/>
                <a:ea typeface="Arial" pitchFamily="34" charset="-122"/>
                <a:cs typeface="Arial" pitchFamily="34" charset="-120"/>
              </a:rPr>
              <a:t>Append: amortized O(1) by growing capacity</a:t>
            </a:r>
            <a:endParaRPr lang="en-US" sz="1400" dirty="0"/>
          </a:p>
          <a:p>
            <a:pPr algn="l" indent="0" marL="0">
              <a:lnSpc>
                <a:spcPts val="1960"/>
              </a:lnSpc>
              <a:buNone/>
            </a:pPr>
            <a:r>
              <a:rPr lang="en-US" sz="1400" dirty="0">
                <a:solidFill>
                  <a:srgbClr val="1B2130"/>
                </a:solidFill>
                <a:latin typeface="Arial" pitchFamily="34" charset="0"/>
                <a:ea typeface="Arial" pitchFamily="34" charset="-122"/>
                <a:cs typeface="Arial" pitchFamily="34" charset="-120"/>
              </a:rPr>
              <a:t>Holds the result list for every algorithm</a:t>
            </a:r>
            <a:endParaRPr lang="en-US" sz="1400" dirty="0"/>
          </a:p>
        </p:txBody>
      </p:sp>
      <p:sp>
        <p:nvSpPr>
          <p:cNvPr id="6" name="Shape 4"/>
          <p:cNvSpPr/>
          <p:nvPr/>
        </p:nvSpPr>
        <p:spPr>
          <a:xfrm>
            <a:off x="6200775" y="1235075"/>
            <a:ext cx="5175250" cy="2020094"/>
          </a:xfrm>
          <a:prstGeom prst="roundRect">
            <a:avLst>
              <a:gd name="adj" fmla="val 4872"/>
            </a:avLst>
          </a:prstGeom>
          <a:solidFill>
            <a:srgbClr val="FFFFFF"/>
          </a:solidFill>
          <a:ln w="6350">
            <a:solidFill>
              <a:srgbClr val="DCD8CF"/>
            </a:solidFill>
            <a:prstDash val="solid"/>
          </a:ln>
        </p:spPr>
      </p:sp>
      <p:sp>
        <p:nvSpPr>
          <p:cNvPr id="7" name="Text 5"/>
          <p:cNvSpPr/>
          <p:nvPr/>
        </p:nvSpPr>
        <p:spPr>
          <a:xfrm>
            <a:off x="6407150" y="1441450"/>
            <a:ext cx="490537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23A35"/>
                </a:solidFill>
                <a:latin typeface="Arial" pitchFamily="34" charset="0"/>
                <a:ea typeface="Arial" pitchFamily="34" charset="-122"/>
                <a:cs typeface="Arial" pitchFamily="34" charset="-120"/>
              </a:rPr>
              <a:t>PatternMatcher interface</a:t>
            </a:r>
            <a:endParaRPr lang="en-US" sz="1800" dirty="0"/>
          </a:p>
        </p:txBody>
      </p:sp>
      <p:sp>
        <p:nvSpPr>
          <p:cNvPr id="8" name="Text 6"/>
          <p:cNvSpPr/>
          <p:nvPr/>
        </p:nvSpPr>
        <p:spPr>
          <a:xfrm>
            <a:off x="6407150" y="1804591"/>
            <a:ext cx="4905375"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130"/>
                </a:solidFill>
                <a:latin typeface="Arial" pitchFamily="34" charset="0"/>
                <a:ea typeface="Arial" pitchFamily="34" charset="-122"/>
                <a:cs typeface="Arial" pitchFamily="34" charset="-120"/>
              </a:rPr>
              <a:t>One contract, five implementations, so the GUI never depends on a specific algorithm.</a:t>
            </a:r>
            <a:endParaRPr lang="en-US" sz="1400" dirty="0"/>
          </a:p>
          <a:p>
            <a:pPr algn="l" indent="0" marL="0">
              <a:lnSpc>
                <a:spcPts val="1960"/>
              </a:lnSpc>
              <a:buNone/>
            </a:pPr>
            <a:r>
              <a:rPr lang="en-US" sz="1400" dirty="0">
                <a:solidFill>
                  <a:srgbClr val="1B2130"/>
                </a:solidFill>
                <a:latin typeface="Arial" pitchFamily="34" charset="0"/>
                <a:ea typeface="Arial" pitchFamily="34" charset="-122"/>
                <a:cs typeface="Arial" pitchFamily="34" charset="-120"/>
              </a:rPr>
              <a:t>Add a sixth algorithm without touching the GUI</a:t>
            </a:r>
            <a:endParaRPr lang="en-US" sz="1400" dirty="0"/>
          </a:p>
          <a:p>
            <a:pPr algn="l" indent="0" marL="0">
              <a:lnSpc>
                <a:spcPts val="1960"/>
              </a:lnSpc>
              <a:buNone/>
            </a:pPr>
            <a:r>
              <a:rPr lang="en-US" sz="1400" dirty="0">
                <a:solidFill>
                  <a:srgbClr val="1B2130"/>
                </a:solidFill>
                <a:latin typeface="Arial" pitchFamily="34" charset="0"/>
                <a:ea typeface="Arial" pitchFamily="34" charset="-122"/>
                <a:cs typeface="Arial" pitchFamily="34" charset="-120"/>
              </a:rPr>
              <a:t>Same input, same output type, fair timing</a:t>
            </a:r>
            <a:endParaRPr lang="en-US" sz="1400" dirty="0"/>
          </a:p>
        </p:txBody>
      </p:sp>
      <p:sp>
        <p:nvSpPr>
          <p:cNvPr id="9" name="Text 7"/>
          <p:cNvSpPr/>
          <p:nvPr/>
        </p:nvSpPr>
        <p:spPr>
          <a:xfrm>
            <a:off x="812800" y="3461544"/>
            <a:ext cx="1599208" cy="452041"/>
          </a:xfrm>
          <a:prstGeom prst="roundRect">
            <a:avLst>
              <a:gd name="adj" fmla="val 16857"/>
            </a:avLst>
          </a:prstGeom>
          <a:solidFill>
            <a:srgbClr val="151A24"/>
          </a:solidFill>
          <a:ln/>
        </p:spPr>
        <p:txBody>
          <a:bodyPr wrap="none" lIns="0" tIns="0" rIns="0" bIns="0" rtlCol="0" anchor="ctr">
            <a:normAutofit/>
          </a:bodyPr>
          <a:lstStyle/>
          <a:p>
            <a:pPr algn="ctr" indent="0" marL="0">
              <a:lnSpc>
                <a:spcPts val="1960"/>
              </a:lnSpc>
              <a:buNone/>
            </a:pPr>
            <a:r>
              <a:rPr lang="en-US" sz="1400" b="1" dirty="0">
                <a:solidFill>
                  <a:srgbClr val="F2EFE8"/>
                </a:solidFill>
                <a:latin typeface="Arial" pitchFamily="34" charset="0"/>
                <a:ea typeface="Arial" pitchFamily="34" charset="-122"/>
                <a:cs typeface="Arial" pitchFamily="34" charset="-120"/>
              </a:rPr>
              <a:t>PatternMatcher</a:t>
            </a:r>
            <a:endParaRPr lang="en-US" sz="1400" dirty="0"/>
          </a:p>
        </p:txBody>
      </p:sp>
      <p:sp>
        <p:nvSpPr>
          <p:cNvPr id="10" name="Text 8"/>
          <p:cNvSpPr/>
          <p:nvPr/>
        </p:nvSpPr>
        <p:spPr>
          <a:xfrm>
            <a:off x="2513608" y="3545284"/>
            <a:ext cx="2540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B6472"/>
                </a:solidFill>
                <a:latin typeface="Arial" pitchFamily="34" charset="0"/>
                <a:ea typeface="Arial" pitchFamily="34" charset="-122"/>
                <a:cs typeface="Arial" pitchFamily="34" charset="-120"/>
              </a:rPr>
              <a:t>→</a:t>
            </a:r>
            <a:endParaRPr lang="en-US" sz="1600" dirty="0"/>
          </a:p>
        </p:txBody>
      </p:sp>
      <p:sp>
        <p:nvSpPr>
          <p:cNvPr id="11" name="Text 9"/>
          <p:cNvSpPr/>
          <p:nvPr/>
        </p:nvSpPr>
        <p:spPr>
          <a:xfrm>
            <a:off x="2818408" y="3470374"/>
            <a:ext cx="1651198" cy="434280"/>
          </a:xfrm>
          <a:custGeom>
            <a:avLst/>
            <a:gdLst/>
            <a:ahLst/>
            <a:cxnLst/>
            <a:rect l="l" t="t" r="r" b="b"/>
            <a:pathLst>
              <a:path w="1651198" h="434280">
                <a:moveTo>
                  <a:pt x="76200" y="0"/>
                </a:moveTo>
                <a:lnTo>
                  <a:pt x="1574998" y="0"/>
                </a:lnTo>
                <a:arcTo hR="76200" wR="76200" stAng="16200000" swAng="5400000"/>
                <a:lnTo>
                  <a:pt x="1651198" y="358080"/>
                </a:lnTo>
                <a:arcTo hR="76200" wR="76200" stAng="0" swAng="5400000"/>
                <a:lnTo>
                  <a:pt x="76200" y="434280"/>
                </a:lnTo>
                <a:arcTo hR="76200" wR="76200" stAng="5400000" swAng="5400000"/>
                <a:lnTo>
                  <a:pt x="0" y="76200"/>
                </a:lnTo>
                <a:arcTo hR="76200" wR="76200" stAng="10800000" swAng="5400000"/>
                <a:close/>
              </a:path>
            </a:pathLst>
          </a:custGeom>
          <a:solidFill>
            <a:srgbClr val="17808F"/>
          </a:solidFill>
          <a:ln/>
        </p:spPr>
        <p:txBody>
          <a:bodyPr wrap="square" lIns="25400" tIns="101600" rIns="25400" bIns="76200" rtlCol="0" anchor="t">
            <a:normAutofit/>
          </a:bodyPr>
          <a:lstStyle/>
          <a:p>
            <a:pPr algn="ctr" indent="0" marL="0">
              <a:lnSpc>
                <a:spcPts val="1820"/>
              </a:lnSpc>
              <a:buNone/>
            </a:pPr>
            <a:r>
              <a:rPr lang="en-US" sz="1300" dirty="0">
                <a:solidFill>
                  <a:srgbClr val="FFFFFF"/>
                </a:solidFill>
                <a:latin typeface="Arial" pitchFamily="34" charset="0"/>
                <a:ea typeface="Arial" pitchFamily="34" charset="-122"/>
                <a:cs typeface="Arial" pitchFamily="34" charset="-120"/>
              </a:rPr>
              <a:t>Naive</a:t>
            </a:r>
            <a:endParaRPr lang="en-US" sz="1300" dirty="0"/>
          </a:p>
        </p:txBody>
      </p:sp>
      <p:sp>
        <p:nvSpPr>
          <p:cNvPr id="12" name="Text 10"/>
          <p:cNvSpPr/>
          <p:nvPr/>
        </p:nvSpPr>
        <p:spPr>
          <a:xfrm>
            <a:off x="4545806" y="3470374"/>
            <a:ext cx="1651198" cy="434280"/>
          </a:xfrm>
          <a:custGeom>
            <a:avLst/>
            <a:gdLst/>
            <a:ahLst/>
            <a:cxnLst/>
            <a:rect l="l" t="t" r="r" b="b"/>
            <a:pathLst>
              <a:path w="1651198" h="434280">
                <a:moveTo>
                  <a:pt x="76200" y="0"/>
                </a:moveTo>
                <a:lnTo>
                  <a:pt x="1574998" y="0"/>
                </a:lnTo>
                <a:arcTo hR="76200" wR="76200" stAng="16200000" swAng="5400000"/>
                <a:lnTo>
                  <a:pt x="1651198" y="358080"/>
                </a:lnTo>
                <a:arcTo hR="76200" wR="76200" stAng="0" swAng="5400000"/>
                <a:lnTo>
                  <a:pt x="76200" y="434280"/>
                </a:lnTo>
                <a:arcTo hR="76200" wR="76200" stAng="5400000" swAng="5400000"/>
                <a:lnTo>
                  <a:pt x="0" y="76200"/>
                </a:lnTo>
                <a:arcTo hR="76200" wR="76200" stAng="10800000" swAng="5400000"/>
                <a:close/>
              </a:path>
            </a:pathLst>
          </a:custGeom>
          <a:solidFill>
            <a:srgbClr val="17808F"/>
          </a:solidFill>
          <a:ln/>
        </p:spPr>
        <p:txBody>
          <a:bodyPr wrap="square" lIns="25400" tIns="101600" rIns="25400" bIns="76200" rtlCol="0" anchor="t">
            <a:normAutofit/>
          </a:bodyPr>
          <a:lstStyle/>
          <a:p>
            <a:pPr algn="ctr" indent="0" marL="0">
              <a:lnSpc>
                <a:spcPts val="1820"/>
              </a:lnSpc>
              <a:buNone/>
            </a:pPr>
            <a:r>
              <a:rPr lang="en-US" sz="1300" dirty="0">
                <a:solidFill>
                  <a:srgbClr val="FFFFFF"/>
                </a:solidFill>
                <a:latin typeface="Arial" pitchFamily="34" charset="0"/>
                <a:ea typeface="Arial" pitchFamily="34" charset="-122"/>
                <a:cs typeface="Arial" pitchFamily="34" charset="-120"/>
              </a:rPr>
              <a:t>Z</a:t>
            </a:r>
            <a:endParaRPr lang="en-US" sz="1300" dirty="0"/>
          </a:p>
        </p:txBody>
      </p:sp>
      <p:sp>
        <p:nvSpPr>
          <p:cNvPr id="13" name="Text 11"/>
          <p:cNvSpPr/>
          <p:nvPr/>
        </p:nvSpPr>
        <p:spPr>
          <a:xfrm>
            <a:off x="6273205" y="3470374"/>
            <a:ext cx="1651198" cy="434280"/>
          </a:xfrm>
          <a:custGeom>
            <a:avLst/>
            <a:gdLst/>
            <a:ahLst/>
            <a:cxnLst/>
            <a:rect l="l" t="t" r="r" b="b"/>
            <a:pathLst>
              <a:path w="1651198" h="434280">
                <a:moveTo>
                  <a:pt x="76200" y="0"/>
                </a:moveTo>
                <a:lnTo>
                  <a:pt x="1574998" y="0"/>
                </a:lnTo>
                <a:arcTo hR="76200" wR="76200" stAng="16200000" swAng="5400000"/>
                <a:lnTo>
                  <a:pt x="1651198" y="358080"/>
                </a:lnTo>
                <a:arcTo hR="76200" wR="76200" stAng="0" swAng="5400000"/>
                <a:lnTo>
                  <a:pt x="76200" y="434280"/>
                </a:lnTo>
                <a:arcTo hR="76200" wR="76200" stAng="5400000" swAng="5400000"/>
                <a:lnTo>
                  <a:pt x="0" y="76200"/>
                </a:lnTo>
                <a:arcTo hR="76200" wR="76200" stAng="10800000" swAng="5400000"/>
                <a:close/>
              </a:path>
            </a:pathLst>
          </a:custGeom>
          <a:solidFill>
            <a:srgbClr val="17808F"/>
          </a:solidFill>
          <a:ln/>
        </p:spPr>
        <p:txBody>
          <a:bodyPr wrap="square" lIns="25400" tIns="101600" rIns="25400" bIns="76200" rtlCol="0" anchor="t">
            <a:normAutofit/>
          </a:bodyPr>
          <a:lstStyle/>
          <a:p>
            <a:pPr algn="ctr" indent="0" marL="0">
              <a:lnSpc>
                <a:spcPts val="1820"/>
              </a:lnSpc>
              <a:buNone/>
            </a:pPr>
            <a:r>
              <a:rPr lang="en-US" sz="1300" dirty="0">
                <a:solidFill>
                  <a:srgbClr val="FFFFFF"/>
                </a:solidFill>
                <a:latin typeface="Arial" pitchFamily="34" charset="0"/>
                <a:ea typeface="Arial" pitchFamily="34" charset="-122"/>
                <a:cs typeface="Arial" pitchFamily="34" charset="-120"/>
              </a:rPr>
              <a:t>KMP</a:t>
            </a:r>
            <a:endParaRPr lang="en-US" sz="1300" dirty="0"/>
          </a:p>
        </p:txBody>
      </p:sp>
      <p:sp>
        <p:nvSpPr>
          <p:cNvPr id="14" name="Text 12"/>
          <p:cNvSpPr/>
          <p:nvPr/>
        </p:nvSpPr>
        <p:spPr>
          <a:xfrm>
            <a:off x="8000603" y="3470374"/>
            <a:ext cx="1651198" cy="434280"/>
          </a:xfrm>
          <a:custGeom>
            <a:avLst/>
            <a:gdLst/>
            <a:ahLst/>
            <a:cxnLst/>
            <a:rect l="l" t="t" r="r" b="b"/>
            <a:pathLst>
              <a:path w="1651198" h="434280">
                <a:moveTo>
                  <a:pt x="76200" y="0"/>
                </a:moveTo>
                <a:lnTo>
                  <a:pt x="1574998" y="0"/>
                </a:lnTo>
                <a:arcTo hR="76200" wR="76200" stAng="16200000" swAng="5400000"/>
                <a:lnTo>
                  <a:pt x="1651198" y="358080"/>
                </a:lnTo>
                <a:arcTo hR="76200" wR="76200" stAng="0" swAng="5400000"/>
                <a:lnTo>
                  <a:pt x="76200" y="434280"/>
                </a:lnTo>
                <a:arcTo hR="76200" wR="76200" stAng="5400000" swAng="5400000"/>
                <a:lnTo>
                  <a:pt x="0" y="76200"/>
                </a:lnTo>
                <a:arcTo hR="76200" wR="76200" stAng="10800000" swAng="5400000"/>
                <a:close/>
              </a:path>
            </a:pathLst>
          </a:custGeom>
          <a:solidFill>
            <a:srgbClr val="17808F"/>
          </a:solidFill>
          <a:ln/>
        </p:spPr>
        <p:txBody>
          <a:bodyPr wrap="square" lIns="25400" tIns="101600" rIns="25400" bIns="76200" rtlCol="0" anchor="t">
            <a:normAutofit/>
          </a:bodyPr>
          <a:lstStyle/>
          <a:p>
            <a:pPr algn="ctr" indent="0" marL="0">
              <a:lnSpc>
                <a:spcPts val="1820"/>
              </a:lnSpc>
              <a:buNone/>
            </a:pPr>
            <a:r>
              <a:rPr lang="en-US" sz="1300" dirty="0">
                <a:solidFill>
                  <a:srgbClr val="FFFFFF"/>
                </a:solidFill>
                <a:latin typeface="Arial" pitchFamily="34" charset="0"/>
                <a:ea typeface="Arial" pitchFamily="34" charset="-122"/>
                <a:cs typeface="Arial" pitchFamily="34" charset="-120"/>
              </a:rPr>
              <a:t>Boyer-Moore</a:t>
            </a:r>
            <a:endParaRPr lang="en-US" sz="1300" dirty="0"/>
          </a:p>
        </p:txBody>
      </p:sp>
      <p:sp>
        <p:nvSpPr>
          <p:cNvPr id="15" name="Text 13"/>
          <p:cNvSpPr/>
          <p:nvPr/>
        </p:nvSpPr>
        <p:spPr>
          <a:xfrm>
            <a:off x="9728002" y="3470374"/>
            <a:ext cx="1651198" cy="434280"/>
          </a:xfrm>
          <a:custGeom>
            <a:avLst/>
            <a:gdLst/>
            <a:ahLst/>
            <a:cxnLst/>
            <a:rect l="l" t="t" r="r" b="b"/>
            <a:pathLst>
              <a:path w="1651198" h="434280">
                <a:moveTo>
                  <a:pt x="76200" y="0"/>
                </a:moveTo>
                <a:lnTo>
                  <a:pt x="1574998" y="0"/>
                </a:lnTo>
                <a:arcTo hR="76200" wR="76200" stAng="16200000" swAng="5400000"/>
                <a:lnTo>
                  <a:pt x="1651198" y="358080"/>
                </a:lnTo>
                <a:arcTo hR="76200" wR="76200" stAng="0" swAng="5400000"/>
                <a:lnTo>
                  <a:pt x="76200" y="434280"/>
                </a:lnTo>
                <a:arcTo hR="76200" wR="76200" stAng="5400000" swAng="5400000"/>
                <a:lnTo>
                  <a:pt x="0" y="76200"/>
                </a:lnTo>
                <a:arcTo hR="76200" wR="76200" stAng="10800000" swAng="5400000"/>
                <a:close/>
              </a:path>
            </a:pathLst>
          </a:custGeom>
          <a:solidFill>
            <a:srgbClr val="17808F"/>
          </a:solidFill>
          <a:ln/>
        </p:spPr>
        <p:txBody>
          <a:bodyPr wrap="square" lIns="25400" tIns="101600" rIns="25400" bIns="76200" rtlCol="0" anchor="t">
            <a:normAutofit/>
          </a:bodyPr>
          <a:lstStyle/>
          <a:p>
            <a:pPr algn="ctr" indent="0" marL="0">
              <a:lnSpc>
                <a:spcPts val="1820"/>
              </a:lnSpc>
              <a:buNone/>
            </a:pPr>
            <a:r>
              <a:rPr lang="en-US" sz="1300" dirty="0">
                <a:solidFill>
                  <a:srgbClr val="FFFFFF"/>
                </a:solidFill>
                <a:latin typeface="Arial" pitchFamily="34" charset="0"/>
                <a:ea typeface="Arial" pitchFamily="34" charset="-122"/>
                <a:cs typeface="Arial" pitchFamily="34" charset="-120"/>
              </a:rPr>
              <a:t>Rabin-Karp</a:t>
            </a:r>
            <a:endParaRPr lang="en-US" sz="1300" dirty="0"/>
          </a:p>
        </p:txBody>
      </p:sp>
      <p:sp>
        <p:nvSpPr>
          <p:cNvPr id="16" name="Text 14"/>
          <p:cNvSpPr/>
          <p:nvPr/>
        </p:nvSpPr>
        <p:spPr>
          <a:xfrm>
            <a:off x="812800" y="6238280"/>
            <a:ext cx="16063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25CS2103E · 4 / 13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4064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2130"/>
                </a:solidFill>
                <a:latin typeface="Arial" pitchFamily="34" charset="0"/>
                <a:ea typeface="Arial" pitchFamily="34" charset="-122"/>
                <a:cs typeface="Arial" pitchFamily="34" charset="-120"/>
              </a:rPr>
              <a:t>Application Screenshots &amp; Execution Proof</a:t>
            </a:r>
            <a:endParaRPr lang="en-US" sz="2800" dirty="0"/>
          </a:p>
        </p:txBody>
      </p:sp>
      <p:sp>
        <p:nvSpPr>
          <p:cNvPr id="3" name="Shape 1"/>
          <p:cNvSpPr/>
          <p:nvPr/>
        </p:nvSpPr>
        <p:spPr>
          <a:xfrm>
            <a:off x="815975" y="940395"/>
            <a:ext cx="3422650" cy="2349302"/>
          </a:xfrm>
          <a:prstGeom prst="roundRect">
            <a:avLst>
              <a:gd name="adj" fmla="val 4190"/>
            </a:avLst>
          </a:prstGeom>
          <a:solidFill>
            <a:srgbClr val="FFFFFF"/>
          </a:solidFill>
          <a:ln w="6350">
            <a:solidFill>
              <a:srgbClr val="DCD8CF"/>
            </a:solidFill>
            <a:prstDash val="solid"/>
          </a:ln>
        </p:spPr>
      </p:sp>
      <p:sp>
        <p:nvSpPr>
          <p:cNvPr id="4" name="Shape 2"/>
          <p:cNvSpPr/>
          <p:nvPr/>
        </p:nvSpPr>
        <p:spPr>
          <a:xfrm>
            <a:off x="920750" y="1045170"/>
            <a:ext cx="3111500" cy="1428750"/>
          </a:xfrm>
          <a:prstGeom prst="rect">
            <a:avLst/>
          </a:prstGeom>
          <a:solidFill>
            <a:srgbClr val="EEEEEE"/>
          </a:solidFill>
          <a:ln/>
        </p:spPr>
      </p:sp>
      <p:pic>
        <p:nvPicPr>
          <p:cNvPr id="5" name="Image 0" descr="Naive search GUI">    </p:cNvPr>
          <p:cNvPicPr>
            <a:picLocks noChangeAspect="1"/>
          </p:cNvPicPr>
          <p:nvPr/>
        </p:nvPicPr>
        <p:blipFill>
          <a:blip r:embed="rId1"/>
          <a:srcRect l="-16" r="-16" t="0" b="0"/>
          <a:stretch/>
        </p:blipFill>
        <p:spPr>
          <a:xfrm>
            <a:off x="920750" y="1045170"/>
            <a:ext cx="3111500" cy="1428750"/>
          </a:xfrm>
          <a:prstGeom prst="rect">
            <a:avLst/>
          </a:prstGeom>
        </p:spPr>
      </p:pic>
      <p:sp>
        <p:nvSpPr>
          <p:cNvPr id="6" name="Text 3"/>
          <p:cNvSpPr/>
          <p:nvPr/>
        </p:nvSpPr>
        <p:spPr>
          <a:xfrm>
            <a:off x="920750" y="2524720"/>
            <a:ext cx="330949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23A35"/>
                </a:solidFill>
                <a:latin typeface="Arial" pitchFamily="34" charset="0"/>
                <a:ea typeface="Arial" pitchFamily="34" charset="-122"/>
                <a:cs typeface="Arial" pitchFamily="34" charset="-120"/>
              </a:rPr>
              <a:t>1 · Naive Search</a:t>
            </a:r>
            <a:endParaRPr lang="en-US" sz="1400" dirty="0"/>
          </a:p>
        </p:txBody>
      </p:sp>
      <p:sp>
        <p:nvSpPr>
          <p:cNvPr id="7" name="Text 4"/>
          <p:cNvSpPr/>
          <p:nvPr/>
        </p:nvSpPr>
        <p:spPr>
          <a:xfrm>
            <a:off x="920750" y="2788841"/>
            <a:ext cx="3309493"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B2130"/>
                </a:solidFill>
                <a:latin typeface="Arial" pitchFamily="34" charset="0"/>
                <a:ea typeface="Arial" pitchFamily="34" charset="-122"/>
                <a:cs typeface="Arial" pitchFamily="34" charset="-120"/>
              </a:rPr>
              <a:t>n=21, m=6 → 3 matches at 3, 9, 13 in 0.0198 ms</a:t>
            </a:r>
            <a:endParaRPr lang="en-US" sz="1200" dirty="0"/>
          </a:p>
        </p:txBody>
      </p:sp>
      <p:sp>
        <p:nvSpPr>
          <p:cNvPr id="8" name="Shape 5"/>
          <p:cNvSpPr/>
          <p:nvPr/>
        </p:nvSpPr>
        <p:spPr>
          <a:xfrm>
            <a:off x="4384675" y="940395"/>
            <a:ext cx="3422650" cy="2349302"/>
          </a:xfrm>
          <a:prstGeom prst="roundRect">
            <a:avLst>
              <a:gd name="adj" fmla="val 4190"/>
            </a:avLst>
          </a:prstGeom>
          <a:solidFill>
            <a:srgbClr val="FFFFFF"/>
          </a:solidFill>
          <a:ln w="6350">
            <a:solidFill>
              <a:srgbClr val="DCD8CF"/>
            </a:solidFill>
            <a:prstDash val="solid"/>
          </a:ln>
        </p:spPr>
      </p:sp>
      <p:sp>
        <p:nvSpPr>
          <p:cNvPr id="9" name="Shape 6"/>
          <p:cNvSpPr/>
          <p:nvPr/>
        </p:nvSpPr>
        <p:spPr>
          <a:xfrm>
            <a:off x="4489450" y="1045170"/>
            <a:ext cx="3111500" cy="1428750"/>
          </a:xfrm>
          <a:prstGeom prst="rect">
            <a:avLst/>
          </a:prstGeom>
          <a:solidFill>
            <a:srgbClr val="EEEEEE"/>
          </a:solidFill>
          <a:ln/>
        </p:spPr>
      </p:sp>
      <p:pic>
        <p:nvPicPr>
          <p:cNvPr id="10" name="Image 1" descr="Z-Algorithm GUI">    </p:cNvPr>
          <p:cNvPicPr>
            <a:picLocks noChangeAspect="1"/>
          </p:cNvPicPr>
          <p:nvPr/>
        </p:nvPicPr>
        <p:blipFill>
          <a:blip r:embed="rId2"/>
          <a:srcRect l="-307" r="-307" t="0" b="0"/>
          <a:stretch/>
        </p:blipFill>
        <p:spPr>
          <a:xfrm>
            <a:off x="4489450" y="1045170"/>
            <a:ext cx="3111500" cy="1428750"/>
          </a:xfrm>
          <a:prstGeom prst="rect">
            <a:avLst/>
          </a:prstGeom>
        </p:spPr>
      </p:pic>
      <p:sp>
        <p:nvSpPr>
          <p:cNvPr id="11" name="Text 7"/>
          <p:cNvSpPr/>
          <p:nvPr/>
        </p:nvSpPr>
        <p:spPr>
          <a:xfrm>
            <a:off x="4489450" y="2524720"/>
            <a:ext cx="330949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23A35"/>
                </a:solidFill>
                <a:latin typeface="Arial" pitchFamily="34" charset="0"/>
                <a:ea typeface="Arial" pitchFamily="34" charset="-122"/>
                <a:cs typeface="Arial" pitchFamily="34" charset="-120"/>
              </a:rPr>
              <a:t>2 · Z-Algorithm</a:t>
            </a:r>
            <a:endParaRPr lang="en-US" sz="1400" dirty="0"/>
          </a:p>
        </p:txBody>
      </p:sp>
      <p:sp>
        <p:nvSpPr>
          <p:cNvPr id="12" name="Text 8"/>
          <p:cNvSpPr/>
          <p:nvPr/>
        </p:nvSpPr>
        <p:spPr>
          <a:xfrm>
            <a:off x="4489450" y="2788841"/>
            <a:ext cx="3309493"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B2130"/>
                </a:solidFill>
                <a:latin typeface="Arial" pitchFamily="34" charset="0"/>
                <a:ea typeface="Arial" pitchFamily="34" charset="-122"/>
                <a:cs typeface="Arial" pitchFamily="34" charset="-120"/>
              </a:rPr>
              <a:t>AAB in AABAAABAA → matches at 0, 4 in 0.0419 ms</a:t>
            </a:r>
            <a:endParaRPr lang="en-US" sz="1200" dirty="0"/>
          </a:p>
        </p:txBody>
      </p:sp>
      <p:sp>
        <p:nvSpPr>
          <p:cNvPr id="13" name="Shape 9"/>
          <p:cNvSpPr/>
          <p:nvPr/>
        </p:nvSpPr>
        <p:spPr>
          <a:xfrm>
            <a:off x="7953375" y="940395"/>
            <a:ext cx="3422650" cy="2349302"/>
          </a:xfrm>
          <a:prstGeom prst="roundRect">
            <a:avLst>
              <a:gd name="adj" fmla="val 4190"/>
            </a:avLst>
          </a:prstGeom>
          <a:solidFill>
            <a:srgbClr val="FFFFFF"/>
          </a:solidFill>
          <a:ln w="6350">
            <a:solidFill>
              <a:srgbClr val="DCD8CF"/>
            </a:solidFill>
            <a:prstDash val="solid"/>
          </a:ln>
        </p:spPr>
      </p:sp>
      <p:sp>
        <p:nvSpPr>
          <p:cNvPr id="14" name="Shape 10"/>
          <p:cNvSpPr/>
          <p:nvPr/>
        </p:nvSpPr>
        <p:spPr>
          <a:xfrm>
            <a:off x="8058150" y="1045170"/>
            <a:ext cx="3111500" cy="1428750"/>
          </a:xfrm>
          <a:prstGeom prst="rect">
            <a:avLst/>
          </a:prstGeom>
          <a:solidFill>
            <a:srgbClr val="EEEEEE"/>
          </a:solidFill>
          <a:ln/>
        </p:spPr>
      </p:sp>
      <p:pic>
        <p:nvPicPr>
          <p:cNvPr id="15" name="Image 2" descr="KMP GUI">    </p:cNvPr>
          <p:cNvPicPr>
            <a:picLocks noChangeAspect="1"/>
          </p:cNvPicPr>
          <p:nvPr/>
        </p:nvPicPr>
        <p:blipFill>
          <a:blip r:embed="rId3"/>
          <a:srcRect l="-307" r="-307" t="0" b="0"/>
          <a:stretch/>
        </p:blipFill>
        <p:spPr>
          <a:xfrm>
            <a:off x="8058150" y="1045170"/>
            <a:ext cx="3111500" cy="1428750"/>
          </a:xfrm>
          <a:prstGeom prst="rect">
            <a:avLst/>
          </a:prstGeom>
        </p:spPr>
      </p:pic>
      <p:sp>
        <p:nvSpPr>
          <p:cNvPr id="16" name="Text 11"/>
          <p:cNvSpPr/>
          <p:nvPr/>
        </p:nvSpPr>
        <p:spPr>
          <a:xfrm>
            <a:off x="8058150" y="2524720"/>
            <a:ext cx="330949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23A35"/>
                </a:solidFill>
                <a:latin typeface="Arial" pitchFamily="34" charset="0"/>
                <a:ea typeface="Arial" pitchFamily="34" charset="-122"/>
                <a:cs typeface="Arial" pitchFamily="34" charset="-120"/>
              </a:rPr>
              <a:t>3 · KMP</a:t>
            </a:r>
            <a:endParaRPr lang="en-US" sz="1400" dirty="0"/>
          </a:p>
        </p:txBody>
      </p:sp>
      <p:sp>
        <p:nvSpPr>
          <p:cNvPr id="17" name="Text 12"/>
          <p:cNvSpPr/>
          <p:nvPr/>
        </p:nvSpPr>
        <p:spPr>
          <a:xfrm>
            <a:off x="8058150" y="2788841"/>
            <a:ext cx="3309493"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B2130"/>
                </a:solidFill>
                <a:latin typeface="Arial" pitchFamily="34" charset="0"/>
                <a:ea typeface="Arial" pitchFamily="34" charset="-122"/>
                <a:cs typeface="Arial" pitchFamily="34" charset="-120"/>
              </a:rPr>
              <a:t>n=19, m=9 → 1 match at 10; LPS [0,0,1,2,0,1,2,3,4]</a:t>
            </a:r>
            <a:endParaRPr lang="en-US" sz="1200" dirty="0"/>
          </a:p>
        </p:txBody>
      </p:sp>
      <p:sp>
        <p:nvSpPr>
          <p:cNvPr id="18" name="Shape 13"/>
          <p:cNvSpPr/>
          <p:nvPr/>
        </p:nvSpPr>
        <p:spPr>
          <a:xfrm>
            <a:off x="815975" y="3435747"/>
            <a:ext cx="3422650" cy="2349302"/>
          </a:xfrm>
          <a:prstGeom prst="roundRect">
            <a:avLst>
              <a:gd name="adj" fmla="val 4190"/>
            </a:avLst>
          </a:prstGeom>
          <a:solidFill>
            <a:srgbClr val="FFFFFF"/>
          </a:solidFill>
          <a:ln w="6350">
            <a:solidFill>
              <a:srgbClr val="DCD8CF"/>
            </a:solidFill>
            <a:prstDash val="solid"/>
          </a:ln>
        </p:spPr>
      </p:sp>
      <p:sp>
        <p:nvSpPr>
          <p:cNvPr id="19" name="Shape 14"/>
          <p:cNvSpPr/>
          <p:nvPr/>
        </p:nvSpPr>
        <p:spPr>
          <a:xfrm>
            <a:off x="920750" y="3540522"/>
            <a:ext cx="3111500" cy="1428750"/>
          </a:xfrm>
          <a:prstGeom prst="rect">
            <a:avLst/>
          </a:prstGeom>
          <a:solidFill>
            <a:srgbClr val="EEEEEE"/>
          </a:solidFill>
          <a:ln/>
        </p:spPr>
      </p:sp>
      <p:pic>
        <p:nvPicPr>
          <p:cNvPr id="20" name="Image 3" descr="Boyer-Moore GUI">    </p:cNvPr>
          <p:cNvPicPr>
            <a:picLocks noChangeAspect="1"/>
          </p:cNvPicPr>
          <p:nvPr/>
        </p:nvPicPr>
        <p:blipFill>
          <a:blip r:embed="rId4"/>
          <a:srcRect l="-307" r="-307" t="0" b="0"/>
          <a:stretch/>
        </p:blipFill>
        <p:spPr>
          <a:xfrm>
            <a:off x="920750" y="3540522"/>
            <a:ext cx="3111500" cy="1428750"/>
          </a:xfrm>
          <a:prstGeom prst="rect">
            <a:avLst/>
          </a:prstGeom>
        </p:spPr>
      </p:pic>
      <p:sp>
        <p:nvSpPr>
          <p:cNvPr id="21" name="Text 15"/>
          <p:cNvSpPr/>
          <p:nvPr/>
        </p:nvSpPr>
        <p:spPr>
          <a:xfrm>
            <a:off x="920750" y="5020072"/>
            <a:ext cx="330949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23A35"/>
                </a:solidFill>
                <a:latin typeface="Arial" pitchFamily="34" charset="0"/>
                <a:ea typeface="Arial" pitchFamily="34" charset="-122"/>
                <a:cs typeface="Arial" pitchFamily="34" charset="-120"/>
              </a:rPr>
              <a:t>4 · Boyer-Moore</a:t>
            </a:r>
            <a:endParaRPr lang="en-US" sz="1400" dirty="0"/>
          </a:p>
        </p:txBody>
      </p:sp>
      <p:sp>
        <p:nvSpPr>
          <p:cNvPr id="22" name="Text 16"/>
          <p:cNvSpPr/>
          <p:nvPr/>
        </p:nvSpPr>
        <p:spPr>
          <a:xfrm>
            <a:off x="920750" y="5284192"/>
            <a:ext cx="3309493"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B2130"/>
                </a:solidFill>
                <a:latin typeface="Arial" pitchFamily="34" charset="0"/>
                <a:ea typeface="Arial" pitchFamily="34" charset="-122"/>
                <a:cs typeface="Arial" pitchFamily="34" charset="-120"/>
              </a:rPr>
              <a:t>EXAMPLE in a 24-char text → match at 17 in 0.0762 ms</a:t>
            </a:r>
            <a:endParaRPr lang="en-US" sz="1200" dirty="0"/>
          </a:p>
        </p:txBody>
      </p:sp>
      <p:sp>
        <p:nvSpPr>
          <p:cNvPr id="23" name="Shape 17"/>
          <p:cNvSpPr/>
          <p:nvPr/>
        </p:nvSpPr>
        <p:spPr>
          <a:xfrm>
            <a:off x="4384675" y="3435747"/>
            <a:ext cx="3422650" cy="2349302"/>
          </a:xfrm>
          <a:prstGeom prst="roundRect">
            <a:avLst>
              <a:gd name="adj" fmla="val 4190"/>
            </a:avLst>
          </a:prstGeom>
          <a:solidFill>
            <a:srgbClr val="FFFFFF"/>
          </a:solidFill>
          <a:ln w="6350">
            <a:solidFill>
              <a:srgbClr val="DCD8CF"/>
            </a:solidFill>
            <a:prstDash val="solid"/>
          </a:ln>
        </p:spPr>
      </p:sp>
      <p:sp>
        <p:nvSpPr>
          <p:cNvPr id="24" name="Shape 18"/>
          <p:cNvSpPr/>
          <p:nvPr/>
        </p:nvSpPr>
        <p:spPr>
          <a:xfrm>
            <a:off x="4489450" y="3540522"/>
            <a:ext cx="3111500" cy="1428750"/>
          </a:xfrm>
          <a:prstGeom prst="rect">
            <a:avLst/>
          </a:prstGeom>
          <a:solidFill>
            <a:srgbClr val="EEEEEE"/>
          </a:solidFill>
          <a:ln/>
        </p:spPr>
      </p:sp>
      <p:pic>
        <p:nvPicPr>
          <p:cNvPr id="25" name="Image 4" descr="Rabin-Karp GUI">    </p:cNvPr>
          <p:cNvPicPr>
            <a:picLocks noChangeAspect="1"/>
          </p:cNvPicPr>
          <p:nvPr/>
        </p:nvPicPr>
        <p:blipFill>
          <a:blip r:embed="rId5"/>
          <a:srcRect l="-307" r="-307" t="0" b="0"/>
          <a:stretch/>
        </p:blipFill>
        <p:spPr>
          <a:xfrm>
            <a:off x="4489450" y="3540522"/>
            <a:ext cx="3111500" cy="1428750"/>
          </a:xfrm>
          <a:prstGeom prst="rect">
            <a:avLst/>
          </a:prstGeom>
        </p:spPr>
      </p:pic>
      <p:sp>
        <p:nvSpPr>
          <p:cNvPr id="26" name="Text 19"/>
          <p:cNvSpPr/>
          <p:nvPr/>
        </p:nvSpPr>
        <p:spPr>
          <a:xfrm>
            <a:off x="4489450" y="5020072"/>
            <a:ext cx="330949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23A35"/>
                </a:solidFill>
                <a:latin typeface="Arial" pitchFamily="34" charset="0"/>
                <a:ea typeface="Arial" pitchFamily="34" charset="-122"/>
                <a:cs typeface="Arial" pitchFamily="34" charset="-120"/>
              </a:rPr>
              <a:t>5 · Rabin-Karp</a:t>
            </a:r>
            <a:endParaRPr lang="en-US" sz="1400" dirty="0"/>
          </a:p>
        </p:txBody>
      </p:sp>
      <p:sp>
        <p:nvSpPr>
          <p:cNvPr id="27" name="Text 20"/>
          <p:cNvSpPr/>
          <p:nvPr/>
        </p:nvSpPr>
        <p:spPr>
          <a:xfrm>
            <a:off x="4489450" y="5284192"/>
            <a:ext cx="3309493"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B2130"/>
                </a:solidFill>
                <a:latin typeface="Arial" pitchFamily="34" charset="0"/>
                <a:ea typeface="Arial" pitchFamily="34" charset="-122"/>
                <a:cs typeface="Arial" pitchFamily="34" charset="-120"/>
              </a:rPr>
              <a:t>265 in digits of π → match at 6 in 0.0523 ms</a:t>
            </a:r>
            <a:endParaRPr lang="en-US" sz="1200" dirty="0"/>
          </a:p>
        </p:txBody>
      </p:sp>
      <p:sp>
        <p:nvSpPr>
          <p:cNvPr id="28" name="Shape 21"/>
          <p:cNvSpPr/>
          <p:nvPr/>
        </p:nvSpPr>
        <p:spPr>
          <a:xfrm>
            <a:off x="7950200" y="3432572"/>
            <a:ext cx="3429000" cy="2355652"/>
          </a:xfrm>
          <a:prstGeom prst="roundRect">
            <a:avLst>
              <a:gd name="adj" fmla="val 4313"/>
            </a:avLst>
          </a:prstGeom>
          <a:solidFill>
            <a:srgbClr val="151A24"/>
          </a:solidFill>
          <a:ln/>
        </p:spPr>
      </p:sp>
      <p:sp>
        <p:nvSpPr>
          <p:cNvPr id="29" name="Text 22"/>
          <p:cNvSpPr/>
          <p:nvPr/>
        </p:nvSpPr>
        <p:spPr>
          <a:xfrm>
            <a:off x="8102600" y="4145657"/>
            <a:ext cx="32179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8776F"/>
                </a:solidFill>
                <a:latin typeface="Arial" pitchFamily="34" charset="0"/>
                <a:ea typeface="Arial" pitchFamily="34" charset="-122"/>
                <a:cs typeface="Arial" pitchFamily="34" charset="-120"/>
              </a:rPr>
              <a:t>How to read each screen</a:t>
            </a:r>
            <a:endParaRPr lang="en-US" sz="1400" dirty="0"/>
          </a:p>
        </p:txBody>
      </p:sp>
      <p:sp>
        <p:nvSpPr>
          <p:cNvPr id="30" name="Text 23"/>
          <p:cNvSpPr/>
          <p:nvPr/>
        </p:nvSpPr>
        <p:spPr>
          <a:xfrm>
            <a:off x="8102600" y="4435177"/>
            <a:ext cx="321792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8"/>
                </a:solidFill>
                <a:latin typeface="Arial" pitchFamily="34" charset="0"/>
                <a:ea typeface="Arial" pitchFamily="34" charset="-122"/>
                <a:cs typeface="Arial" pitchFamily="34" charset="-120"/>
              </a:rPr>
              <a:t>Top: input and algorithm. Pane 1: metrics and match positions (index, L:1, C = index + 1). Pane 2: the algorithm's mechanics.</a:t>
            </a:r>
            <a:endParaRPr lang="en-US" sz="1200" dirty="0"/>
          </a:p>
        </p:txBody>
      </p:sp>
      <p:sp>
        <p:nvSpPr>
          <p:cNvPr id="31" name="Text 24"/>
          <p:cNvSpPr/>
          <p:nvPr/>
        </p:nvSpPr>
        <p:spPr>
          <a:xfrm>
            <a:off x="812800" y="6339880"/>
            <a:ext cx="16063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25CS2103E · 5 / 13</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6096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23A35"/>
                </a:solidFill>
                <a:latin typeface="Arial" pitchFamily="34" charset="0"/>
                <a:ea typeface="Arial" pitchFamily="34" charset="-122"/>
                <a:cs typeface="Arial" pitchFamily="34" charset="-120"/>
              </a:rPr>
              <a:t>ALGORITHM 1</a:t>
            </a:r>
            <a:endParaRPr lang="en-US" sz="1300" dirty="0"/>
          </a:p>
        </p:txBody>
      </p:sp>
      <p:sp>
        <p:nvSpPr>
          <p:cNvPr id="3" name="Text 1"/>
          <p:cNvSpPr/>
          <p:nvPr>
            <p:ph type="title"/>
          </p:nvPr>
        </p:nvSpPr>
        <p:spPr>
          <a:xfrm>
            <a:off x="812800" y="104388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130"/>
                </a:solidFill>
                <a:latin typeface="Arial" pitchFamily="34" charset="0"/>
                <a:ea typeface="Arial" pitchFamily="34" charset="-122"/>
                <a:cs typeface="Arial" pitchFamily="34" charset="-120"/>
              </a:rPr>
              <a:t>Naive Search (Brute Force)</a:t>
            </a:r>
            <a:endParaRPr lang="en-US" sz="3000" dirty="0"/>
          </a:p>
        </p:txBody>
      </p:sp>
      <p:sp>
        <p:nvSpPr>
          <p:cNvPr id="4" name="Text 2"/>
          <p:cNvSpPr/>
          <p:nvPr/>
        </p:nvSpPr>
        <p:spPr>
          <a:xfrm>
            <a:off x="812800" y="1666180"/>
            <a:ext cx="6488176"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130"/>
                </a:solidFill>
                <a:latin typeface="Arial" pitchFamily="34" charset="0"/>
                <a:ea typeface="Arial" pitchFamily="34" charset="-122"/>
                <a:cs typeface="Arial" pitchFamily="34" charset="-120"/>
              </a:rPr>
              <a:t>Slide P across T one index at a time; compare left to right.</a:t>
            </a:r>
            <a:endParaRPr lang="en-US" sz="1500" dirty="0"/>
          </a:p>
          <a:p>
            <a:pPr algn="l" indent="0" marL="0">
              <a:lnSpc>
                <a:spcPts val="2100"/>
              </a:lnSpc>
              <a:buNone/>
            </a:pPr>
            <a:r>
              <a:rPr lang="en-US" sz="1500" dirty="0">
                <a:solidFill>
                  <a:srgbClr val="1B2130"/>
                </a:solidFill>
                <a:latin typeface="Arial" pitchFamily="34" charset="0"/>
                <a:ea typeface="Arial" pitchFamily="34" charset="-122"/>
                <a:cs typeface="Arial" pitchFamily="34" charset="-120"/>
              </a:rPr>
              <a:t>On a mismatch, restart the text pointer at shift s+1 (backtracking).</a:t>
            </a:r>
            <a:endParaRPr lang="en-US" sz="1500" dirty="0"/>
          </a:p>
          <a:p>
            <a:pPr algn="l" indent="0" marL="0">
              <a:lnSpc>
                <a:spcPts val="2100"/>
              </a:lnSpc>
              <a:buNone/>
            </a:pPr>
            <a:r>
              <a:rPr lang="en-US" sz="1500" dirty="0">
                <a:solidFill>
                  <a:srgbClr val="1B2130"/>
                </a:solidFill>
                <a:latin typeface="Arial" pitchFamily="34" charset="0"/>
                <a:ea typeface="Arial" pitchFamily="34" charset="-122"/>
                <a:cs typeface="Arial" pitchFamily="34" charset="-120"/>
              </a:rPr>
              <a:t>Comparisons ≤ (n − m + 1) · m</a:t>
            </a:r>
            <a:endParaRPr lang="en-US" sz="1500" dirty="0"/>
          </a:p>
        </p:txBody>
      </p:sp>
      <p:sp>
        <p:nvSpPr>
          <p:cNvPr id="5" name="Shape 3"/>
          <p:cNvSpPr/>
          <p:nvPr/>
        </p:nvSpPr>
        <p:spPr>
          <a:xfrm>
            <a:off x="7321550" y="1672530"/>
            <a:ext cx="4051300" cy="991791"/>
          </a:xfrm>
          <a:prstGeom prst="roundRect">
            <a:avLst>
              <a:gd name="adj" fmla="val 9604"/>
            </a:avLst>
          </a:prstGeom>
          <a:solidFill>
            <a:srgbClr val="FFFFFF"/>
          </a:solidFill>
          <a:ln w="12700">
            <a:solidFill>
              <a:srgbClr val="17808F"/>
            </a:solidFill>
            <a:prstDash val="solid"/>
          </a:ln>
        </p:spPr>
      </p:sp>
      <p:sp>
        <p:nvSpPr>
          <p:cNvPr id="6" name="Text 4"/>
          <p:cNvSpPr/>
          <p:nvPr/>
        </p:nvSpPr>
        <p:spPr>
          <a:xfrm>
            <a:off x="7480300" y="1831280"/>
            <a:ext cx="384581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808F"/>
                </a:solidFill>
                <a:latin typeface="Arial" pitchFamily="34" charset="0"/>
                <a:ea typeface="Arial" pitchFamily="34" charset="-122"/>
                <a:cs typeface="Arial" pitchFamily="34" charset="-120"/>
              </a:rPr>
              <a:t>Best case: O(n)</a:t>
            </a:r>
            <a:endParaRPr lang="en-US" sz="1500" dirty="0"/>
          </a:p>
        </p:txBody>
      </p:sp>
      <p:sp>
        <p:nvSpPr>
          <p:cNvPr id="7" name="Text 5"/>
          <p:cNvSpPr/>
          <p:nvPr/>
        </p:nvSpPr>
        <p:spPr>
          <a:xfrm>
            <a:off x="7480300" y="2059880"/>
            <a:ext cx="384581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130"/>
                </a:solidFill>
                <a:latin typeface="Arial" pitchFamily="34" charset="0"/>
                <a:ea typeface="Arial" pitchFamily="34" charset="-122"/>
                <a:cs typeface="Arial" pitchFamily="34" charset="-120"/>
              </a:rPr>
              <a:t>Every shift fails on the first character, e.g. T = AAAA…A, P = B.</a:t>
            </a:r>
            <a:endParaRPr lang="en-US" sz="1300" dirty="0"/>
          </a:p>
        </p:txBody>
      </p:sp>
      <p:sp>
        <p:nvSpPr>
          <p:cNvPr id="8" name="Shape 6"/>
          <p:cNvSpPr/>
          <p:nvPr/>
        </p:nvSpPr>
        <p:spPr>
          <a:xfrm>
            <a:off x="7321550" y="2778621"/>
            <a:ext cx="4051300" cy="991791"/>
          </a:xfrm>
          <a:prstGeom prst="roundRect">
            <a:avLst>
              <a:gd name="adj" fmla="val 9604"/>
            </a:avLst>
          </a:prstGeom>
          <a:solidFill>
            <a:srgbClr val="FFFFFF"/>
          </a:solidFill>
          <a:ln w="12700">
            <a:solidFill>
              <a:srgbClr val="B23A35"/>
            </a:solidFill>
            <a:prstDash val="solid"/>
          </a:ln>
        </p:spPr>
      </p:sp>
      <p:sp>
        <p:nvSpPr>
          <p:cNvPr id="9" name="Text 7"/>
          <p:cNvSpPr/>
          <p:nvPr/>
        </p:nvSpPr>
        <p:spPr>
          <a:xfrm>
            <a:off x="7480300" y="2937371"/>
            <a:ext cx="384581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23A35"/>
                </a:solidFill>
                <a:latin typeface="Arial" pitchFamily="34" charset="0"/>
                <a:ea typeface="Arial" pitchFamily="34" charset="-122"/>
                <a:cs typeface="Arial" pitchFamily="34" charset="-120"/>
              </a:rPr>
              <a:t>Worst case: O(n·m)</a:t>
            </a:r>
            <a:endParaRPr lang="en-US" sz="1500" dirty="0"/>
          </a:p>
        </p:txBody>
      </p:sp>
      <p:sp>
        <p:nvSpPr>
          <p:cNvPr id="10" name="Text 8"/>
          <p:cNvSpPr/>
          <p:nvPr/>
        </p:nvSpPr>
        <p:spPr>
          <a:xfrm>
            <a:off x="7480300" y="3165971"/>
            <a:ext cx="384581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130"/>
                </a:solidFill>
                <a:latin typeface="Arial" pitchFamily="34" charset="0"/>
                <a:ea typeface="Arial" pitchFamily="34" charset="-122"/>
                <a:cs typeface="Arial" pitchFamily="34" charset="-120"/>
              </a:rPr>
              <a:t>T = Aⁿ, P = Aᵐ⁻¹B: almost m comparisons at all n−m+1 shifts.</a:t>
            </a:r>
            <a:endParaRPr lang="en-US" sz="1300" dirty="0"/>
          </a:p>
        </p:txBody>
      </p:sp>
      <p:sp>
        <p:nvSpPr>
          <p:cNvPr id="11" name="Text 9"/>
          <p:cNvSpPr/>
          <p:nvPr/>
        </p:nvSpPr>
        <p:spPr>
          <a:xfrm>
            <a:off x="7318375" y="3881537"/>
            <a:ext cx="4057650" cy="539750"/>
          </a:xfrm>
          <a:prstGeom prst="roundRect">
            <a:avLst>
              <a:gd name="adj" fmla="val 18235"/>
            </a:avLst>
          </a:prstGeom>
          <a:solidFill>
            <a:srgbClr val="FFFFFF"/>
          </a:solidFill>
          <a:ln w="6350">
            <a:solidFill>
              <a:srgbClr val="DCD8CF"/>
            </a:solidFill>
            <a:prstDash val="solid"/>
          </a:ln>
        </p:spPr>
        <p:txBody>
          <a:bodyPr wrap="square" lIns="126747" tIns="126747" rIns="14352" bIns="101347" rtlCol="0" anchor="t">
            <a:normAutofit/>
          </a:bodyPr>
          <a:lstStyle/>
          <a:p>
            <a:pPr algn="l" indent="0" marL="0">
              <a:lnSpc>
                <a:spcPts val="1800"/>
              </a:lnSpc>
              <a:buNone/>
            </a:pPr>
            <a:r>
              <a:rPr lang="en-US" sz="1500" b="1" dirty="0">
                <a:solidFill>
                  <a:srgbClr val="1B2130"/>
                </a:solidFill>
                <a:latin typeface="Arial" pitchFamily="34" charset="0"/>
                <a:ea typeface="Arial" pitchFamily="34" charset="-122"/>
                <a:cs typeface="Arial" pitchFamily="34" charset="-120"/>
              </a:rPr>
              <a:t>Space: O(1)</a:t>
            </a:r>
            <a:endParaRPr lang="en-US" sz="1500" dirty="0"/>
          </a:p>
        </p:txBody>
      </p:sp>
      <p:sp>
        <p:nvSpPr>
          <p:cNvPr id="12" name="Text 10"/>
          <p:cNvSpPr/>
          <p:nvPr/>
        </p:nvSpPr>
        <p:spPr>
          <a:xfrm>
            <a:off x="812800" y="4627662"/>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472"/>
                </a:solidFill>
                <a:latin typeface="Arial" pitchFamily="34" charset="0"/>
                <a:ea typeface="Arial" pitchFamily="34" charset="-122"/>
                <a:cs typeface="Arial" pitchFamily="34" charset="-120"/>
              </a:rPr>
              <a:t>Our run: ABCDAB in ABCABCDABABCDABCDABDE → shift 0 matches ABC, then A ≠ D; matches at 3, 9, 13.</a:t>
            </a:r>
            <a:endParaRPr lang="en-US" sz="1400" dirty="0"/>
          </a:p>
        </p:txBody>
      </p:sp>
      <p:sp>
        <p:nvSpPr>
          <p:cNvPr id="13" name="Text 11"/>
          <p:cNvSpPr/>
          <p:nvPr/>
        </p:nvSpPr>
        <p:spPr>
          <a:xfrm>
            <a:off x="812800" y="6238280"/>
            <a:ext cx="16063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25CS2103E · 6 / 13</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6096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23A35"/>
                </a:solidFill>
                <a:latin typeface="Arial" pitchFamily="34" charset="0"/>
                <a:ea typeface="Arial" pitchFamily="34" charset="-122"/>
                <a:cs typeface="Arial" pitchFamily="34" charset="-120"/>
              </a:rPr>
              <a:t>ALGORITHM 2 · CENTREPIECE</a:t>
            </a:r>
            <a:endParaRPr lang="en-US" sz="1300" dirty="0"/>
          </a:p>
        </p:txBody>
      </p:sp>
      <p:sp>
        <p:nvSpPr>
          <p:cNvPr id="3" name="Text 1"/>
          <p:cNvSpPr/>
          <p:nvPr>
            <p:ph type="title"/>
          </p:nvPr>
        </p:nvSpPr>
        <p:spPr>
          <a:xfrm>
            <a:off x="812800" y="101848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130"/>
                </a:solidFill>
                <a:latin typeface="Arial" pitchFamily="34" charset="0"/>
                <a:ea typeface="Arial" pitchFamily="34" charset="-122"/>
                <a:cs typeface="Arial" pitchFamily="34" charset="-120"/>
              </a:rPr>
              <a:t>Z-Algorithm: Linear O(n+m)</a:t>
            </a:r>
            <a:endParaRPr lang="en-US" sz="3000" dirty="0"/>
          </a:p>
        </p:txBody>
      </p:sp>
      <p:sp>
        <p:nvSpPr>
          <p:cNvPr id="4" name="Text 2"/>
          <p:cNvSpPr/>
          <p:nvPr/>
        </p:nvSpPr>
        <p:spPr>
          <a:xfrm>
            <a:off x="812800" y="1615380"/>
            <a:ext cx="5337048" cy="1269603"/>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130"/>
                </a:solidFill>
                <a:latin typeface="Arial" pitchFamily="34" charset="0"/>
                <a:ea typeface="Arial" pitchFamily="34" charset="-122"/>
                <a:cs typeface="Arial" pitchFamily="34" charset="-120"/>
              </a:rPr>
              <a:t>Concatenate</a:t>
            </a:r>
            <a:r>
              <a:rPr lang="en-US" sz="1400" dirty="0">
                <a:solidFill>
                  <a:srgbClr val="1B2130"/>
                </a:solidFill>
                <a:latin typeface="Arial" pitchFamily="34" charset="0"/>
                <a:ea typeface="Arial" pitchFamily="34" charset="-122"/>
                <a:cs typeface="Arial" pitchFamily="34" charset="-120"/>
              </a:rPr>
              <a:t> S = P # T. The # never occurs in the text, so Z[i] ≤ m.</a:t>
            </a:r>
            <a:endParaRPr lang="en-US" sz="1400" dirty="0"/>
          </a:p>
          <a:p>
            <a:pPr algn="l" indent="0" marL="0">
              <a:lnSpc>
                <a:spcPts val="1960"/>
              </a:lnSpc>
              <a:buNone/>
            </a:pPr>
            <a:r>
              <a:rPr lang="en-US" sz="1400" b="1" dirty="0">
                <a:solidFill>
                  <a:srgbClr val="1B2130"/>
                </a:solidFill>
                <a:latin typeface="Arial" pitchFamily="34" charset="0"/>
                <a:ea typeface="Arial" pitchFamily="34" charset="-122"/>
                <a:cs typeface="Arial" pitchFamily="34" charset="-120"/>
              </a:rPr>
              <a:t>Z[i]</a:t>
            </a:r>
            <a:r>
              <a:rPr lang="en-US" sz="1400" dirty="0">
                <a:solidFill>
                  <a:srgbClr val="1B2130"/>
                </a:solidFill>
                <a:latin typeface="Arial" pitchFamily="34" charset="0"/>
                <a:ea typeface="Arial" pitchFamily="34" charset="-122"/>
                <a:cs typeface="Arial" pitchFamily="34" charset="-120"/>
              </a:rPr>
              <a:t> = length of the longest substring starting at i that equals a prefix of S.</a:t>
            </a:r>
            <a:endParaRPr lang="en-US" sz="1400" dirty="0"/>
          </a:p>
          <a:p>
            <a:pPr algn="l" indent="0" marL="0">
              <a:lnSpc>
                <a:spcPts val="1960"/>
              </a:lnSpc>
              <a:buNone/>
            </a:pPr>
            <a:r>
              <a:rPr lang="en-US" sz="1400" b="1" dirty="0">
                <a:solidFill>
                  <a:srgbClr val="1B2130"/>
                </a:solidFill>
                <a:latin typeface="Arial" pitchFamily="34" charset="0"/>
                <a:ea typeface="Arial" pitchFamily="34" charset="-122"/>
                <a:cs typeface="Arial" pitchFamily="34" charset="-120"/>
              </a:rPr>
              <a:t>Match</a:t>
            </a:r>
            <a:r>
              <a:rPr lang="en-US" sz="1400" dirty="0">
                <a:solidFill>
                  <a:srgbClr val="1B2130"/>
                </a:solidFill>
                <a:latin typeface="Arial" pitchFamily="34" charset="0"/>
                <a:ea typeface="Arial" pitchFamily="34" charset="-122"/>
                <a:cs typeface="Arial" pitchFamily="34" charset="-120"/>
              </a:rPr>
              <a:t> when Z[i] = m, at text index i − m − 1.</a:t>
            </a:r>
            <a:endParaRPr lang="en-US" sz="1400" dirty="0"/>
          </a:p>
        </p:txBody>
      </p:sp>
      <p:sp>
        <p:nvSpPr>
          <p:cNvPr id="5" name="Text 3"/>
          <p:cNvSpPr/>
          <p:nvPr/>
        </p:nvSpPr>
        <p:spPr>
          <a:xfrm>
            <a:off x="6197600" y="1615380"/>
            <a:ext cx="5337048" cy="77192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130"/>
                </a:solidFill>
                <a:latin typeface="Arial" pitchFamily="34" charset="0"/>
                <a:ea typeface="Arial" pitchFamily="34" charset="-122"/>
                <a:cs typeface="Arial" pitchFamily="34" charset="-120"/>
              </a:rPr>
              <a:t>Z-box [L, R]</a:t>
            </a:r>
            <a:r>
              <a:rPr lang="en-US" sz="1400" dirty="0">
                <a:solidFill>
                  <a:srgbClr val="1B2130"/>
                </a:solidFill>
                <a:latin typeface="Arial" pitchFamily="34" charset="0"/>
                <a:ea typeface="Arial" pitchFamily="34" charset="-122"/>
                <a:cs typeface="Arial" pitchFamily="34" charset="-120"/>
              </a:rPr>
              <a:t>: rightmost matched window so far.</a:t>
            </a:r>
            <a:endParaRPr lang="en-US" sz="1400" dirty="0"/>
          </a:p>
          <a:p>
            <a:pPr algn="l" indent="0" marL="0">
              <a:lnSpc>
                <a:spcPts val="1960"/>
              </a:lnSpc>
              <a:buNone/>
            </a:pPr>
            <a:r>
              <a:rPr lang="en-US" sz="1400" dirty="0">
                <a:solidFill>
                  <a:srgbClr val="1B2130"/>
                </a:solidFill>
                <a:latin typeface="Arial" pitchFamily="34" charset="0"/>
                <a:ea typeface="Arial" pitchFamily="34" charset="-122"/>
                <a:cs typeface="Arial" pitchFamily="34" charset="-120"/>
              </a:rPr>
              <a:t>If i ≤ R: Z[i] = min(R − i + 1, Z[i − L]); else extend by comparing.</a:t>
            </a:r>
            <a:endParaRPr lang="en-US" sz="1400" dirty="0"/>
          </a:p>
          <a:p>
            <a:pPr algn="l" indent="0" marL="0">
              <a:lnSpc>
                <a:spcPts val="1960"/>
              </a:lnSpc>
              <a:buNone/>
            </a:pPr>
            <a:r>
              <a:rPr lang="en-US" sz="1400" dirty="0">
                <a:solidFill>
                  <a:srgbClr val="1B2130"/>
                </a:solidFill>
                <a:latin typeface="Arial" pitchFamily="34" charset="0"/>
                <a:ea typeface="Arial" pitchFamily="34" charset="-122"/>
                <a:cs typeface="Arial" pitchFamily="34" charset="-120"/>
              </a:rPr>
              <a:t>R never moves left, so total work is O(n+m). Space: O(n+m).</a:t>
            </a:r>
            <a:endParaRPr lang="en-US" sz="1400" dirty="0"/>
          </a:p>
        </p:txBody>
      </p:sp>
      <p:sp>
        <p:nvSpPr>
          <p:cNvPr id="6" name="Shape 4"/>
          <p:cNvSpPr/>
          <p:nvPr/>
        </p:nvSpPr>
        <p:spPr>
          <a:xfrm>
            <a:off x="815975" y="3040559"/>
            <a:ext cx="10560050" cy="2716411"/>
          </a:xfrm>
          <a:prstGeom prst="roundRect">
            <a:avLst>
              <a:gd name="adj" fmla="val 3623"/>
            </a:avLst>
          </a:prstGeom>
          <a:solidFill>
            <a:srgbClr val="FFFFFF"/>
          </a:solidFill>
          <a:ln w="6350">
            <a:solidFill>
              <a:srgbClr val="DCD8CF"/>
            </a:solidFill>
            <a:prstDash val="solid"/>
          </a:ln>
        </p:spPr>
      </p:sp>
      <p:sp>
        <p:nvSpPr>
          <p:cNvPr id="7" name="Text 5"/>
          <p:cNvSpPr/>
          <p:nvPr/>
        </p:nvSpPr>
        <p:spPr>
          <a:xfrm>
            <a:off x="971550" y="3196134"/>
            <a:ext cx="105563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Our run: P = AAB, T = AABAAABAA, so S = AAB#AABAAABAA</a:t>
            </a:r>
            <a:endParaRPr lang="en-US" sz="1200" dirty="0"/>
          </a:p>
        </p:txBody>
      </p:sp>
      <p:pic>
        <p:nvPicPr>
          <p:cNvPr id="8" name="Image 0" descr="rect">    </p:cNvPr>
          <p:cNvPicPr>
            <a:picLocks noChangeAspect="1"/>
          </p:cNvPicPr>
          <p:nvPr/>
        </p:nvPicPr>
        <p:blipFill>
          <a:blip r:embed="rId1"/>
          <a:srcRect l="0" r="0" t="0" b="0"/>
          <a:stretch/>
        </p:blipFill>
        <p:spPr>
          <a:xfrm>
            <a:off x="971550" y="3460254"/>
            <a:ext cx="508000" cy="1524000"/>
          </a:xfrm>
          <a:prstGeom prst="rect">
            <a:avLst/>
          </a:prstGeom>
        </p:spPr>
      </p:pic>
      <p:sp>
        <p:nvSpPr>
          <p:cNvPr id="9" name="Text 6"/>
          <p:cNvSpPr/>
          <p:nvPr/>
        </p:nvSpPr>
        <p:spPr>
          <a:xfrm>
            <a:off x="1492250" y="34602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B2130"/>
                </a:solidFill>
                <a:latin typeface="Arial" pitchFamily="34" charset="0"/>
                <a:ea typeface="Arial" pitchFamily="34" charset="-122"/>
                <a:cs typeface="Arial" pitchFamily="34" charset="-120"/>
              </a:rPr>
              <a:t>A</a:t>
            </a:r>
            <a:endParaRPr lang="en-US" sz="1600" dirty="0"/>
          </a:p>
        </p:txBody>
      </p:sp>
      <p:sp>
        <p:nvSpPr>
          <p:cNvPr id="10" name="Text 7"/>
          <p:cNvSpPr/>
          <p:nvPr/>
        </p:nvSpPr>
        <p:spPr>
          <a:xfrm>
            <a:off x="2241550" y="34602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B2130"/>
                </a:solidFill>
                <a:latin typeface="Arial" pitchFamily="34" charset="0"/>
                <a:ea typeface="Arial" pitchFamily="34" charset="-122"/>
                <a:cs typeface="Arial" pitchFamily="34" charset="-120"/>
              </a:rPr>
              <a:t>A</a:t>
            </a:r>
            <a:endParaRPr lang="en-US" sz="1600" dirty="0"/>
          </a:p>
        </p:txBody>
      </p:sp>
      <p:sp>
        <p:nvSpPr>
          <p:cNvPr id="11" name="Text 8"/>
          <p:cNvSpPr/>
          <p:nvPr/>
        </p:nvSpPr>
        <p:spPr>
          <a:xfrm>
            <a:off x="2990850" y="34602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B2130"/>
                </a:solidFill>
                <a:latin typeface="Arial" pitchFamily="34" charset="0"/>
                <a:ea typeface="Arial" pitchFamily="34" charset="-122"/>
                <a:cs typeface="Arial" pitchFamily="34" charset="-120"/>
              </a:rPr>
              <a:t>B</a:t>
            </a:r>
            <a:endParaRPr lang="en-US" sz="1600" dirty="0"/>
          </a:p>
        </p:txBody>
      </p:sp>
      <p:sp>
        <p:nvSpPr>
          <p:cNvPr id="12" name="Text 9"/>
          <p:cNvSpPr/>
          <p:nvPr/>
        </p:nvSpPr>
        <p:spPr>
          <a:xfrm>
            <a:off x="3740150" y="34602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B23A35"/>
                </a:solidFill>
                <a:latin typeface="Arial" pitchFamily="34" charset="0"/>
                <a:ea typeface="Arial" pitchFamily="34" charset="-122"/>
                <a:cs typeface="Arial" pitchFamily="34" charset="-120"/>
              </a:rPr>
              <a:t>#</a:t>
            </a:r>
            <a:endParaRPr lang="en-US" sz="1600" dirty="0"/>
          </a:p>
        </p:txBody>
      </p:sp>
      <p:sp>
        <p:nvSpPr>
          <p:cNvPr id="13" name="Text 10"/>
          <p:cNvSpPr/>
          <p:nvPr/>
        </p:nvSpPr>
        <p:spPr>
          <a:xfrm>
            <a:off x="4489450" y="34602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B2130"/>
                </a:solidFill>
                <a:latin typeface="Arial" pitchFamily="34" charset="0"/>
                <a:ea typeface="Arial" pitchFamily="34" charset="-122"/>
                <a:cs typeface="Arial" pitchFamily="34" charset="-120"/>
              </a:rPr>
              <a:t>A</a:t>
            </a:r>
            <a:endParaRPr lang="en-US" sz="1600" dirty="0"/>
          </a:p>
        </p:txBody>
      </p:sp>
      <p:sp>
        <p:nvSpPr>
          <p:cNvPr id="14" name="Text 11"/>
          <p:cNvSpPr/>
          <p:nvPr/>
        </p:nvSpPr>
        <p:spPr>
          <a:xfrm>
            <a:off x="5238750" y="34602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B2130"/>
                </a:solidFill>
                <a:latin typeface="Arial" pitchFamily="34" charset="0"/>
                <a:ea typeface="Arial" pitchFamily="34" charset="-122"/>
                <a:cs typeface="Arial" pitchFamily="34" charset="-120"/>
              </a:rPr>
              <a:t>A</a:t>
            </a:r>
            <a:endParaRPr lang="en-US" sz="1600" dirty="0"/>
          </a:p>
        </p:txBody>
      </p:sp>
      <p:sp>
        <p:nvSpPr>
          <p:cNvPr id="15" name="Text 12"/>
          <p:cNvSpPr/>
          <p:nvPr/>
        </p:nvSpPr>
        <p:spPr>
          <a:xfrm>
            <a:off x="5988050" y="34602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B2130"/>
                </a:solidFill>
                <a:latin typeface="Arial" pitchFamily="34" charset="0"/>
                <a:ea typeface="Arial" pitchFamily="34" charset="-122"/>
                <a:cs typeface="Arial" pitchFamily="34" charset="-120"/>
              </a:rPr>
              <a:t>B</a:t>
            </a:r>
            <a:endParaRPr lang="en-US" sz="1600" dirty="0"/>
          </a:p>
        </p:txBody>
      </p:sp>
      <p:sp>
        <p:nvSpPr>
          <p:cNvPr id="16" name="Text 13"/>
          <p:cNvSpPr/>
          <p:nvPr/>
        </p:nvSpPr>
        <p:spPr>
          <a:xfrm>
            <a:off x="6737350" y="34602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B2130"/>
                </a:solidFill>
                <a:latin typeface="Arial" pitchFamily="34" charset="0"/>
                <a:ea typeface="Arial" pitchFamily="34" charset="-122"/>
                <a:cs typeface="Arial" pitchFamily="34" charset="-120"/>
              </a:rPr>
              <a:t>A</a:t>
            </a:r>
            <a:endParaRPr lang="en-US" sz="1600" dirty="0"/>
          </a:p>
        </p:txBody>
      </p:sp>
      <p:sp>
        <p:nvSpPr>
          <p:cNvPr id="17" name="Text 14"/>
          <p:cNvSpPr/>
          <p:nvPr/>
        </p:nvSpPr>
        <p:spPr>
          <a:xfrm>
            <a:off x="7486650" y="34602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B2130"/>
                </a:solidFill>
                <a:latin typeface="Arial" pitchFamily="34" charset="0"/>
                <a:ea typeface="Arial" pitchFamily="34" charset="-122"/>
                <a:cs typeface="Arial" pitchFamily="34" charset="-120"/>
              </a:rPr>
              <a:t>A</a:t>
            </a:r>
            <a:endParaRPr lang="en-US" sz="1600" dirty="0"/>
          </a:p>
        </p:txBody>
      </p:sp>
      <p:sp>
        <p:nvSpPr>
          <p:cNvPr id="18" name="Text 15"/>
          <p:cNvSpPr/>
          <p:nvPr/>
        </p:nvSpPr>
        <p:spPr>
          <a:xfrm>
            <a:off x="8235950" y="34602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B2130"/>
                </a:solidFill>
                <a:latin typeface="Arial" pitchFamily="34" charset="0"/>
                <a:ea typeface="Arial" pitchFamily="34" charset="-122"/>
                <a:cs typeface="Arial" pitchFamily="34" charset="-120"/>
              </a:rPr>
              <a:t>A</a:t>
            </a:r>
            <a:endParaRPr lang="en-US" sz="1600" dirty="0"/>
          </a:p>
        </p:txBody>
      </p:sp>
      <p:sp>
        <p:nvSpPr>
          <p:cNvPr id="19" name="Text 16"/>
          <p:cNvSpPr/>
          <p:nvPr/>
        </p:nvSpPr>
        <p:spPr>
          <a:xfrm>
            <a:off x="8985250" y="34602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B2130"/>
                </a:solidFill>
                <a:latin typeface="Arial" pitchFamily="34" charset="0"/>
                <a:ea typeface="Arial" pitchFamily="34" charset="-122"/>
                <a:cs typeface="Arial" pitchFamily="34" charset="-120"/>
              </a:rPr>
              <a:t>B</a:t>
            </a:r>
            <a:endParaRPr lang="en-US" sz="1600" dirty="0"/>
          </a:p>
        </p:txBody>
      </p:sp>
      <p:sp>
        <p:nvSpPr>
          <p:cNvPr id="20" name="Text 17"/>
          <p:cNvSpPr/>
          <p:nvPr/>
        </p:nvSpPr>
        <p:spPr>
          <a:xfrm>
            <a:off x="9734550" y="34602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B2130"/>
                </a:solidFill>
                <a:latin typeface="Arial" pitchFamily="34" charset="0"/>
                <a:ea typeface="Arial" pitchFamily="34" charset="-122"/>
                <a:cs typeface="Arial" pitchFamily="34" charset="-120"/>
              </a:rPr>
              <a:t>A</a:t>
            </a:r>
            <a:endParaRPr lang="en-US" sz="1600" dirty="0"/>
          </a:p>
        </p:txBody>
      </p:sp>
      <p:sp>
        <p:nvSpPr>
          <p:cNvPr id="21" name="Text 18"/>
          <p:cNvSpPr/>
          <p:nvPr/>
        </p:nvSpPr>
        <p:spPr>
          <a:xfrm>
            <a:off x="10483850" y="34602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B2130"/>
                </a:solidFill>
                <a:latin typeface="Arial" pitchFamily="34" charset="0"/>
                <a:ea typeface="Arial" pitchFamily="34" charset="-122"/>
                <a:cs typeface="Arial" pitchFamily="34" charset="-120"/>
              </a:rPr>
              <a:t>A</a:t>
            </a:r>
            <a:endParaRPr lang="en-US" sz="1600" dirty="0"/>
          </a:p>
        </p:txBody>
      </p:sp>
      <p:sp>
        <p:nvSpPr>
          <p:cNvPr id="22" name="Text 19"/>
          <p:cNvSpPr/>
          <p:nvPr/>
        </p:nvSpPr>
        <p:spPr>
          <a:xfrm>
            <a:off x="946150" y="50350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5B6472"/>
                </a:solidFill>
                <a:latin typeface="Arial" pitchFamily="34" charset="0"/>
                <a:ea typeface="Arial" pitchFamily="34" charset="-122"/>
                <a:cs typeface="Arial" pitchFamily="34" charset="-120"/>
              </a:rPr>
              <a:t>0</a:t>
            </a:r>
            <a:endParaRPr lang="en-US" sz="1600" dirty="0"/>
          </a:p>
        </p:txBody>
      </p:sp>
      <p:sp>
        <p:nvSpPr>
          <p:cNvPr id="23" name="Text 20"/>
          <p:cNvSpPr/>
          <p:nvPr/>
        </p:nvSpPr>
        <p:spPr>
          <a:xfrm>
            <a:off x="1695450" y="50350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5B6472"/>
                </a:solidFill>
                <a:latin typeface="Arial" pitchFamily="34" charset="0"/>
                <a:ea typeface="Arial" pitchFamily="34" charset="-122"/>
                <a:cs typeface="Arial" pitchFamily="34" charset="-120"/>
              </a:rPr>
              <a:t>1</a:t>
            </a:r>
            <a:endParaRPr lang="en-US" sz="1600" dirty="0"/>
          </a:p>
        </p:txBody>
      </p:sp>
      <p:sp>
        <p:nvSpPr>
          <p:cNvPr id="24" name="Text 21"/>
          <p:cNvSpPr/>
          <p:nvPr/>
        </p:nvSpPr>
        <p:spPr>
          <a:xfrm>
            <a:off x="2444750" y="50350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5B6472"/>
                </a:solidFill>
                <a:latin typeface="Arial" pitchFamily="34" charset="0"/>
                <a:ea typeface="Arial" pitchFamily="34" charset="-122"/>
                <a:cs typeface="Arial" pitchFamily="34" charset="-120"/>
              </a:rPr>
              <a:t>0</a:t>
            </a:r>
            <a:endParaRPr lang="en-US" sz="1600" dirty="0"/>
          </a:p>
        </p:txBody>
      </p:sp>
      <p:sp>
        <p:nvSpPr>
          <p:cNvPr id="25" name="Text 22"/>
          <p:cNvSpPr/>
          <p:nvPr/>
        </p:nvSpPr>
        <p:spPr>
          <a:xfrm>
            <a:off x="3194050" y="50350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5B6472"/>
                </a:solidFill>
                <a:latin typeface="Arial" pitchFamily="34" charset="0"/>
                <a:ea typeface="Arial" pitchFamily="34" charset="-122"/>
                <a:cs typeface="Arial" pitchFamily="34" charset="-120"/>
              </a:rPr>
              <a:t>0</a:t>
            </a:r>
            <a:endParaRPr lang="en-US" sz="1600" dirty="0"/>
          </a:p>
        </p:txBody>
      </p:sp>
      <p:sp>
        <p:nvSpPr>
          <p:cNvPr id="26" name="Text 23"/>
          <p:cNvSpPr/>
          <p:nvPr/>
        </p:nvSpPr>
        <p:spPr>
          <a:xfrm>
            <a:off x="3968750" y="5035054"/>
            <a:ext cx="711200" cy="284460"/>
          </a:xfrm>
          <a:custGeom>
            <a:avLst/>
            <a:gdLst/>
            <a:ahLst/>
            <a:cxnLst/>
            <a:rect l="l" t="t" r="r" b="b"/>
            <a:pathLst>
              <a:path w="711200" h="284460">
                <a:moveTo>
                  <a:pt x="50800" y="0"/>
                </a:moveTo>
                <a:lnTo>
                  <a:pt x="660400" y="0"/>
                </a:lnTo>
                <a:arcTo hR="50800" wR="50800" stAng="16200000" swAng="5400000"/>
                <a:lnTo>
                  <a:pt x="711200" y="233660"/>
                </a:lnTo>
                <a:arcTo hR="50800" wR="50800" stAng="0" swAng="5400000"/>
                <a:lnTo>
                  <a:pt x="50800" y="284460"/>
                </a:lnTo>
                <a:arcTo hR="50800" wR="50800" stAng="5400000" swAng="5400000"/>
                <a:lnTo>
                  <a:pt x="0" y="50800"/>
                </a:lnTo>
                <a:arcTo hR="50800" wR="50800" stAng="10800000" swAng="5400000"/>
                <a:close/>
              </a:path>
            </a:pathLst>
          </a:custGeom>
          <a:solidFill>
            <a:srgbClr val="B23A35"/>
          </a:solidFill>
          <a:ln/>
        </p:spPr>
        <p:txBody>
          <a:bodyPr wrap="square" lIns="0" tIns="0" rIns="0" bIns="0" rtlCol="0" anchor="t">
            <a:normAutofit/>
          </a:bodyPr>
          <a:lstStyle/>
          <a:p>
            <a:pPr algn="ctr" indent="0" marL="0">
              <a:lnSpc>
                <a:spcPts val="2240"/>
              </a:lnSpc>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7" name="Text 24"/>
          <p:cNvSpPr/>
          <p:nvPr/>
        </p:nvSpPr>
        <p:spPr>
          <a:xfrm>
            <a:off x="4692650" y="50350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5B6472"/>
                </a:solidFill>
                <a:latin typeface="Arial" pitchFamily="34" charset="0"/>
                <a:ea typeface="Arial" pitchFamily="34" charset="-122"/>
                <a:cs typeface="Arial" pitchFamily="34" charset="-120"/>
              </a:rPr>
              <a:t>1</a:t>
            </a:r>
            <a:endParaRPr lang="en-US" sz="1600" dirty="0"/>
          </a:p>
        </p:txBody>
      </p:sp>
      <p:sp>
        <p:nvSpPr>
          <p:cNvPr id="28" name="Text 25"/>
          <p:cNvSpPr/>
          <p:nvPr/>
        </p:nvSpPr>
        <p:spPr>
          <a:xfrm>
            <a:off x="5441950" y="50350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5B6472"/>
                </a:solidFill>
                <a:latin typeface="Arial" pitchFamily="34" charset="0"/>
                <a:ea typeface="Arial" pitchFamily="34" charset="-122"/>
                <a:cs typeface="Arial" pitchFamily="34" charset="-120"/>
              </a:rPr>
              <a:t>0</a:t>
            </a:r>
            <a:endParaRPr lang="en-US" sz="1600" dirty="0"/>
          </a:p>
        </p:txBody>
      </p:sp>
      <p:sp>
        <p:nvSpPr>
          <p:cNvPr id="29" name="Text 26"/>
          <p:cNvSpPr/>
          <p:nvPr/>
        </p:nvSpPr>
        <p:spPr>
          <a:xfrm>
            <a:off x="6191250" y="50350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5B6472"/>
                </a:solidFill>
                <a:latin typeface="Arial" pitchFamily="34" charset="0"/>
                <a:ea typeface="Arial" pitchFamily="34" charset="-122"/>
                <a:cs typeface="Arial" pitchFamily="34" charset="-120"/>
              </a:rPr>
              <a:t>2</a:t>
            </a:r>
            <a:endParaRPr lang="en-US" sz="1600" dirty="0"/>
          </a:p>
        </p:txBody>
      </p:sp>
      <p:sp>
        <p:nvSpPr>
          <p:cNvPr id="30" name="Text 27"/>
          <p:cNvSpPr/>
          <p:nvPr/>
        </p:nvSpPr>
        <p:spPr>
          <a:xfrm>
            <a:off x="6965950" y="5035054"/>
            <a:ext cx="711200" cy="284460"/>
          </a:xfrm>
          <a:custGeom>
            <a:avLst/>
            <a:gdLst/>
            <a:ahLst/>
            <a:cxnLst/>
            <a:rect l="l" t="t" r="r" b="b"/>
            <a:pathLst>
              <a:path w="711200" h="284460">
                <a:moveTo>
                  <a:pt x="50800" y="0"/>
                </a:moveTo>
                <a:lnTo>
                  <a:pt x="660400" y="0"/>
                </a:lnTo>
                <a:arcTo hR="50800" wR="50800" stAng="16200000" swAng="5400000"/>
                <a:lnTo>
                  <a:pt x="711200" y="233660"/>
                </a:lnTo>
                <a:arcTo hR="50800" wR="50800" stAng="0" swAng="5400000"/>
                <a:lnTo>
                  <a:pt x="50800" y="284460"/>
                </a:lnTo>
                <a:arcTo hR="50800" wR="50800" stAng="5400000" swAng="5400000"/>
                <a:lnTo>
                  <a:pt x="0" y="50800"/>
                </a:lnTo>
                <a:arcTo hR="50800" wR="50800" stAng="10800000" swAng="5400000"/>
                <a:close/>
              </a:path>
            </a:pathLst>
          </a:custGeom>
          <a:solidFill>
            <a:srgbClr val="B23A35"/>
          </a:solidFill>
          <a:ln/>
        </p:spPr>
        <p:txBody>
          <a:bodyPr wrap="square" lIns="0" tIns="0" rIns="0" bIns="0" rtlCol="0" anchor="t">
            <a:normAutofit/>
          </a:bodyPr>
          <a:lstStyle/>
          <a:p>
            <a:pPr algn="ctr" indent="0" marL="0">
              <a:lnSpc>
                <a:spcPts val="2240"/>
              </a:lnSpc>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31" name="Text 28"/>
          <p:cNvSpPr/>
          <p:nvPr/>
        </p:nvSpPr>
        <p:spPr>
          <a:xfrm>
            <a:off x="7689850" y="50350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5B6472"/>
                </a:solidFill>
                <a:latin typeface="Arial" pitchFamily="34" charset="0"/>
                <a:ea typeface="Arial" pitchFamily="34" charset="-122"/>
                <a:cs typeface="Arial" pitchFamily="34" charset="-120"/>
              </a:rPr>
              <a:t>1</a:t>
            </a:r>
            <a:endParaRPr lang="en-US" sz="1600" dirty="0"/>
          </a:p>
        </p:txBody>
      </p:sp>
      <p:sp>
        <p:nvSpPr>
          <p:cNvPr id="32" name="Text 29"/>
          <p:cNvSpPr/>
          <p:nvPr/>
        </p:nvSpPr>
        <p:spPr>
          <a:xfrm>
            <a:off x="8439150" y="50350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5B6472"/>
                </a:solidFill>
                <a:latin typeface="Arial" pitchFamily="34" charset="0"/>
                <a:ea typeface="Arial" pitchFamily="34" charset="-122"/>
                <a:cs typeface="Arial" pitchFamily="34" charset="-120"/>
              </a:rPr>
              <a:t>0</a:t>
            </a:r>
            <a:endParaRPr lang="en-US" sz="1600" dirty="0"/>
          </a:p>
        </p:txBody>
      </p:sp>
      <p:sp>
        <p:nvSpPr>
          <p:cNvPr id="33" name="Text 30"/>
          <p:cNvSpPr/>
          <p:nvPr/>
        </p:nvSpPr>
        <p:spPr>
          <a:xfrm>
            <a:off x="9188450" y="50350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5B6472"/>
                </a:solidFill>
                <a:latin typeface="Arial" pitchFamily="34" charset="0"/>
                <a:ea typeface="Arial" pitchFamily="34" charset="-122"/>
                <a:cs typeface="Arial" pitchFamily="34" charset="-120"/>
              </a:rPr>
              <a:t>2</a:t>
            </a:r>
            <a:endParaRPr lang="en-US" sz="1600" dirty="0"/>
          </a:p>
        </p:txBody>
      </p:sp>
      <p:sp>
        <p:nvSpPr>
          <p:cNvPr id="34" name="Text 31"/>
          <p:cNvSpPr/>
          <p:nvPr/>
        </p:nvSpPr>
        <p:spPr>
          <a:xfrm>
            <a:off x="9937750" y="5035054"/>
            <a:ext cx="7620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5B6472"/>
                </a:solidFill>
                <a:latin typeface="Arial" pitchFamily="34" charset="0"/>
                <a:ea typeface="Arial" pitchFamily="34" charset="-122"/>
                <a:cs typeface="Arial" pitchFamily="34" charset="-120"/>
              </a:rPr>
              <a:t>1</a:t>
            </a:r>
            <a:endParaRPr lang="en-US" sz="1600" dirty="0"/>
          </a:p>
        </p:txBody>
      </p:sp>
      <p:sp>
        <p:nvSpPr>
          <p:cNvPr id="35" name="Text 32"/>
          <p:cNvSpPr/>
          <p:nvPr/>
        </p:nvSpPr>
        <p:spPr>
          <a:xfrm>
            <a:off x="971550" y="5370314"/>
            <a:ext cx="1055636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130"/>
                </a:solidFill>
                <a:latin typeface="Arial" pitchFamily="34" charset="0"/>
                <a:ea typeface="Arial" pitchFamily="34" charset="-122"/>
                <a:cs typeface="Arial" pitchFamily="34" charset="-120"/>
              </a:rPr>
              <a:t>Z = [0, 1, 0, 0, </a:t>
            </a:r>
            <a:r>
              <a:rPr lang="en-US" sz="1300" b="1" dirty="0">
                <a:solidFill>
                  <a:srgbClr val="B23A35"/>
                </a:solidFill>
                <a:latin typeface="Arial" pitchFamily="34" charset="0"/>
                <a:ea typeface="Arial" pitchFamily="34" charset="-122"/>
                <a:cs typeface="Arial" pitchFamily="34" charset="-120"/>
              </a:rPr>
              <a:t>3</a:t>
            </a:r>
            <a:r>
              <a:rPr lang="en-US" sz="1300" dirty="0">
                <a:solidFill>
                  <a:srgbClr val="1B2130"/>
                </a:solidFill>
                <a:latin typeface="Arial" pitchFamily="34" charset="0"/>
                <a:ea typeface="Arial" pitchFamily="34" charset="-122"/>
                <a:cs typeface="Arial" pitchFamily="34" charset="-120"/>
              </a:rPr>
              <a:t>, 1, 0, 2, </a:t>
            </a:r>
            <a:r>
              <a:rPr lang="en-US" sz="1300" b="1" dirty="0">
                <a:solidFill>
                  <a:srgbClr val="B23A35"/>
                </a:solidFill>
                <a:latin typeface="Arial" pitchFamily="34" charset="0"/>
                <a:ea typeface="Arial" pitchFamily="34" charset="-122"/>
                <a:cs typeface="Arial" pitchFamily="34" charset="-120"/>
              </a:rPr>
              <a:t>3</a:t>
            </a:r>
            <a:r>
              <a:rPr lang="en-US" sz="1300" dirty="0">
                <a:solidFill>
                  <a:srgbClr val="1B2130"/>
                </a:solidFill>
                <a:latin typeface="Arial" pitchFamily="34" charset="0"/>
                <a:ea typeface="Arial" pitchFamily="34" charset="-122"/>
                <a:cs typeface="Arial" pitchFamily="34" charset="-120"/>
              </a:rPr>
              <a:t>, 1, 0, 2, 1]: Z = 3 = m at i = 4 and 8, so matches at 4−4 = 0 and 8−4 = 4.</a:t>
            </a:r>
            <a:endParaRPr lang="en-US" sz="1300" dirty="0"/>
          </a:p>
        </p:txBody>
      </p:sp>
      <p:sp>
        <p:nvSpPr>
          <p:cNvPr id="36" name="Text 33"/>
          <p:cNvSpPr/>
          <p:nvPr/>
        </p:nvSpPr>
        <p:spPr>
          <a:xfrm>
            <a:off x="812800" y="6238280"/>
            <a:ext cx="16063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25CS2103E · 7 / 13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6096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23A35"/>
                </a:solidFill>
                <a:latin typeface="Arial" pitchFamily="34" charset="0"/>
                <a:ea typeface="Arial" pitchFamily="34" charset="-122"/>
                <a:cs typeface="Arial" pitchFamily="34" charset="-120"/>
              </a:rPr>
              <a:t>ALGORITHM 3</a:t>
            </a:r>
            <a:endParaRPr lang="en-US" sz="1300" dirty="0"/>
          </a:p>
        </p:txBody>
      </p:sp>
      <p:sp>
        <p:nvSpPr>
          <p:cNvPr id="3" name="Text 1"/>
          <p:cNvSpPr/>
          <p:nvPr>
            <p:ph type="title"/>
          </p:nvPr>
        </p:nvSpPr>
        <p:spPr>
          <a:xfrm>
            <a:off x="812800" y="101848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130"/>
                </a:solidFill>
                <a:latin typeface="Arial" pitchFamily="34" charset="0"/>
                <a:ea typeface="Arial" pitchFamily="34" charset="-122"/>
                <a:cs typeface="Arial" pitchFamily="34" charset="-120"/>
              </a:rPr>
              <a:t>Knuth-Morris-Pratt (KMP) Search</a:t>
            </a:r>
            <a:endParaRPr lang="en-US" sz="3000" dirty="0"/>
          </a:p>
        </p:txBody>
      </p:sp>
      <p:sp>
        <p:nvSpPr>
          <p:cNvPr id="4" name="Text 2"/>
          <p:cNvSpPr/>
          <p:nvPr/>
        </p:nvSpPr>
        <p:spPr>
          <a:xfrm>
            <a:off x="812800" y="1615380"/>
            <a:ext cx="6749796" cy="77192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130"/>
                </a:solidFill>
                <a:latin typeface="Arial" pitchFamily="34" charset="0"/>
                <a:ea typeface="Arial" pitchFamily="34" charset="-122"/>
                <a:cs typeface="Arial" pitchFamily="34" charset="-120"/>
              </a:rPr>
              <a:t>Prefix analysis</a:t>
            </a:r>
            <a:r>
              <a:rPr lang="en-US" sz="1400" dirty="0">
                <a:solidFill>
                  <a:srgbClr val="1B2130"/>
                </a:solidFill>
                <a:latin typeface="Arial" pitchFamily="34" charset="0"/>
                <a:ea typeface="Arial" pitchFamily="34" charset="-122"/>
                <a:cs typeface="Arial" pitchFamily="34" charset="-120"/>
              </a:rPr>
              <a:t> of P builds the LPS table: lps[i] = length of the longest proper prefix of P[0..i] that is also a suffix.</a:t>
            </a:r>
            <a:endParaRPr lang="en-US" sz="1400" dirty="0"/>
          </a:p>
          <a:p>
            <a:pPr algn="l" indent="0" marL="0">
              <a:lnSpc>
                <a:spcPts val="1960"/>
              </a:lnSpc>
              <a:buNone/>
            </a:pPr>
            <a:r>
              <a:rPr lang="en-US" sz="1400" b="1" dirty="0">
                <a:solidFill>
                  <a:srgbClr val="1B2130"/>
                </a:solidFill>
                <a:latin typeface="Arial" pitchFamily="34" charset="0"/>
                <a:ea typeface="Arial" pitchFamily="34" charset="-122"/>
                <a:cs typeface="Arial" pitchFamily="34" charset="-120"/>
              </a:rPr>
              <a:t>On mismatch</a:t>
            </a:r>
            <a:r>
              <a:rPr lang="en-US" sz="1400" dirty="0">
                <a:solidFill>
                  <a:srgbClr val="1B2130"/>
                </a:solidFill>
                <a:latin typeface="Arial" pitchFamily="34" charset="0"/>
                <a:ea typeface="Arial" pitchFamily="34" charset="-122"/>
                <a:cs typeface="Arial" pitchFamily="34" charset="-120"/>
              </a:rPr>
              <a:t>: j ← lps[j − 1]. The text pointer i never moves backward.</a:t>
            </a:r>
            <a:endParaRPr lang="en-US" sz="1400" dirty="0"/>
          </a:p>
        </p:txBody>
      </p:sp>
      <p:sp>
        <p:nvSpPr>
          <p:cNvPr id="5" name="Shape 3"/>
          <p:cNvSpPr/>
          <p:nvPr/>
        </p:nvSpPr>
        <p:spPr>
          <a:xfrm>
            <a:off x="7575550" y="1621730"/>
            <a:ext cx="3797300" cy="940991"/>
          </a:xfrm>
          <a:prstGeom prst="roundRect">
            <a:avLst>
              <a:gd name="adj" fmla="val 10122"/>
            </a:avLst>
          </a:prstGeom>
          <a:solidFill>
            <a:srgbClr val="FFFFFF"/>
          </a:solidFill>
          <a:ln w="12700">
            <a:solidFill>
              <a:srgbClr val="17808F"/>
            </a:solidFill>
            <a:prstDash val="solid"/>
          </a:ln>
        </p:spPr>
      </p:sp>
      <p:sp>
        <p:nvSpPr>
          <p:cNvPr id="6" name="Text 4"/>
          <p:cNvSpPr/>
          <p:nvPr/>
        </p:nvSpPr>
        <p:spPr>
          <a:xfrm>
            <a:off x="7734300" y="1755080"/>
            <a:ext cx="35841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808F"/>
                </a:solidFill>
                <a:latin typeface="Arial" pitchFamily="34" charset="0"/>
                <a:ea typeface="Arial" pitchFamily="34" charset="-122"/>
                <a:cs typeface="Arial" pitchFamily="34" charset="-120"/>
              </a:rPr>
              <a:t>Time: O(n + m)</a:t>
            </a:r>
            <a:endParaRPr lang="en-US" sz="1500" dirty="0"/>
          </a:p>
        </p:txBody>
      </p:sp>
      <p:sp>
        <p:nvSpPr>
          <p:cNvPr id="7" name="Text 5"/>
          <p:cNvSpPr/>
          <p:nvPr/>
        </p:nvSpPr>
        <p:spPr>
          <a:xfrm>
            <a:off x="7734300" y="1983680"/>
            <a:ext cx="358419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130"/>
                </a:solidFill>
                <a:latin typeface="Arial" pitchFamily="34" charset="0"/>
                <a:ea typeface="Arial" pitchFamily="34" charset="-122"/>
                <a:cs typeface="Arial" pitchFamily="34" charset="-120"/>
              </a:rPr>
              <a:t>O(m) to build LPS + O(n) to scan; each j decrease is paid by an earlier increase.</a:t>
            </a:r>
            <a:endParaRPr lang="en-US" sz="1300" dirty="0"/>
          </a:p>
        </p:txBody>
      </p:sp>
      <p:sp>
        <p:nvSpPr>
          <p:cNvPr id="8" name="Text 6"/>
          <p:cNvSpPr/>
          <p:nvPr/>
        </p:nvSpPr>
        <p:spPr>
          <a:xfrm>
            <a:off x="7572375" y="2648446"/>
            <a:ext cx="3803650" cy="488950"/>
          </a:xfrm>
          <a:prstGeom prst="roundRect">
            <a:avLst>
              <a:gd name="adj" fmla="val 20130"/>
            </a:avLst>
          </a:prstGeom>
          <a:solidFill>
            <a:srgbClr val="FFFFFF"/>
          </a:solidFill>
          <a:ln w="6350">
            <a:solidFill>
              <a:srgbClr val="DCD8CF"/>
            </a:solidFill>
            <a:prstDash val="solid"/>
          </a:ln>
        </p:spPr>
        <p:txBody>
          <a:bodyPr wrap="square" lIns="126747" tIns="101347" rIns="21972" bIns="75947" rtlCol="0" anchor="t">
            <a:normAutofit/>
          </a:bodyPr>
          <a:lstStyle/>
          <a:p>
            <a:pPr algn="l" indent="0" marL="0">
              <a:lnSpc>
                <a:spcPts val="1800"/>
              </a:lnSpc>
              <a:buNone/>
            </a:pPr>
            <a:r>
              <a:rPr lang="en-US" sz="1500" b="1" dirty="0">
                <a:solidFill>
                  <a:srgbClr val="1B2130"/>
                </a:solidFill>
                <a:latin typeface="Arial" pitchFamily="34" charset="0"/>
                <a:ea typeface="Arial" pitchFamily="34" charset="-122"/>
                <a:cs typeface="Arial" pitchFamily="34" charset="-120"/>
              </a:rPr>
              <a:t>Space: O(m)</a:t>
            </a:r>
            <a:endParaRPr lang="en-US" sz="1500" dirty="0"/>
          </a:p>
        </p:txBody>
      </p:sp>
      <p:sp>
        <p:nvSpPr>
          <p:cNvPr id="9" name="Shape 7"/>
          <p:cNvSpPr/>
          <p:nvPr/>
        </p:nvSpPr>
        <p:spPr>
          <a:xfrm>
            <a:off x="815975" y="3321546"/>
            <a:ext cx="10560050" cy="1512391"/>
          </a:xfrm>
          <a:prstGeom prst="roundRect">
            <a:avLst>
              <a:gd name="adj" fmla="val 6508"/>
            </a:avLst>
          </a:prstGeom>
          <a:solidFill>
            <a:srgbClr val="FFFFFF"/>
          </a:solidFill>
          <a:ln w="6350">
            <a:solidFill>
              <a:srgbClr val="DCD8CF"/>
            </a:solidFill>
            <a:prstDash val="solid"/>
          </a:ln>
        </p:spPr>
      </p:sp>
      <p:sp>
        <p:nvSpPr>
          <p:cNvPr id="10" name="Text 8"/>
          <p:cNvSpPr/>
          <p:nvPr/>
        </p:nvSpPr>
        <p:spPr>
          <a:xfrm>
            <a:off x="971550" y="3477121"/>
            <a:ext cx="105563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Our run: P = ABABCABAB in T = ABABDABACDABABCABAB</a:t>
            </a:r>
            <a:endParaRPr lang="en-US" sz="1200" dirty="0"/>
          </a:p>
        </p:txBody>
      </p:sp>
      <p:sp>
        <p:nvSpPr>
          <p:cNvPr id="11" name="Text 9"/>
          <p:cNvSpPr/>
          <p:nvPr/>
        </p:nvSpPr>
        <p:spPr>
          <a:xfrm>
            <a:off x="946150" y="3741241"/>
            <a:ext cx="812800" cy="327620"/>
          </a:xfrm>
          <a:prstGeom prst="rect">
            <a:avLst/>
          </a:prstGeom>
          <a:noFill/>
          <a:ln/>
        </p:spPr>
        <p:txBody>
          <a:bodyPr wrap="square" lIns="0" tIns="0" rIns="0" bIns="0" rtlCol="0" anchor="t">
            <a:normAutofit/>
          </a:bodyPr>
          <a:lstStyle/>
          <a:p>
            <a:pPr algn="ctr" indent="0" marL="0">
              <a:lnSpc>
                <a:spcPts val="2380"/>
              </a:lnSpc>
              <a:buNone/>
            </a:pPr>
            <a:r>
              <a:rPr lang="en-US" sz="1700" b="1" dirty="0">
                <a:solidFill>
                  <a:srgbClr val="1B2130"/>
                </a:solidFill>
                <a:latin typeface="Arial" pitchFamily="34" charset="0"/>
                <a:ea typeface="Arial" pitchFamily="34" charset="-122"/>
                <a:cs typeface="Arial" pitchFamily="34" charset="-120"/>
              </a:rPr>
              <a:t>A</a:t>
            </a:r>
            <a:endParaRPr lang="en-US" sz="1700" dirty="0"/>
          </a:p>
        </p:txBody>
      </p:sp>
      <p:sp>
        <p:nvSpPr>
          <p:cNvPr id="12" name="Text 10"/>
          <p:cNvSpPr/>
          <p:nvPr/>
        </p:nvSpPr>
        <p:spPr>
          <a:xfrm>
            <a:off x="1771650" y="3741241"/>
            <a:ext cx="812800" cy="327620"/>
          </a:xfrm>
          <a:prstGeom prst="rect">
            <a:avLst/>
          </a:prstGeom>
          <a:noFill/>
          <a:ln/>
        </p:spPr>
        <p:txBody>
          <a:bodyPr wrap="square" lIns="0" tIns="0" rIns="0" bIns="0" rtlCol="0" anchor="t">
            <a:normAutofit/>
          </a:bodyPr>
          <a:lstStyle/>
          <a:p>
            <a:pPr algn="ctr" indent="0" marL="0">
              <a:lnSpc>
                <a:spcPts val="2380"/>
              </a:lnSpc>
              <a:buNone/>
            </a:pPr>
            <a:r>
              <a:rPr lang="en-US" sz="1700" b="1" dirty="0">
                <a:solidFill>
                  <a:srgbClr val="1B2130"/>
                </a:solidFill>
                <a:latin typeface="Arial" pitchFamily="34" charset="0"/>
                <a:ea typeface="Arial" pitchFamily="34" charset="-122"/>
                <a:cs typeface="Arial" pitchFamily="34" charset="-120"/>
              </a:rPr>
              <a:t>B</a:t>
            </a:r>
            <a:endParaRPr lang="en-US" sz="1700" dirty="0"/>
          </a:p>
        </p:txBody>
      </p:sp>
      <p:sp>
        <p:nvSpPr>
          <p:cNvPr id="13" name="Text 11"/>
          <p:cNvSpPr/>
          <p:nvPr/>
        </p:nvSpPr>
        <p:spPr>
          <a:xfrm>
            <a:off x="2597150" y="3741241"/>
            <a:ext cx="812800" cy="327620"/>
          </a:xfrm>
          <a:prstGeom prst="rect">
            <a:avLst/>
          </a:prstGeom>
          <a:noFill/>
          <a:ln/>
        </p:spPr>
        <p:txBody>
          <a:bodyPr wrap="square" lIns="0" tIns="0" rIns="0" bIns="0" rtlCol="0" anchor="t">
            <a:normAutofit/>
          </a:bodyPr>
          <a:lstStyle/>
          <a:p>
            <a:pPr algn="ctr" indent="0" marL="0">
              <a:lnSpc>
                <a:spcPts val="2380"/>
              </a:lnSpc>
              <a:buNone/>
            </a:pPr>
            <a:r>
              <a:rPr lang="en-US" sz="1700" b="1" dirty="0">
                <a:solidFill>
                  <a:srgbClr val="1B2130"/>
                </a:solidFill>
                <a:latin typeface="Arial" pitchFamily="34" charset="0"/>
                <a:ea typeface="Arial" pitchFamily="34" charset="-122"/>
                <a:cs typeface="Arial" pitchFamily="34" charset="-120"/>
              </a:rPr>
              <a:t>A</a:t>
            </a:r>
            <a:endParaRPr lang="en-US" sz="1700" dirty="0"/>
          </a:p>
        </p:txBody>
      </p:sp>
      <p:sp>
        <p:nvSpPr>
          <p:cNvPr id="14" name="Text 12"/>
          <p:cNvSpPr/>
          <p:nvPr/>
        </p:nvSpPr>
        <p:spPr>
          <a:xfrm>
            <a:off x="3422650" y="3741241"/>
            <a:ext cx="812800" cy="327620"/>
          </a:xfrm>
          <a:prstGeom prst="rect">
            <a:avLst/>
          </a:prstGeom>
          <a:noFill/>
          <a:ln/>
        </p:spPr>
        <p:txBody>
          <a:bodyPr wrap="square" lIns="0" tIns="0" rIns="0" bIns="0" rtlCol="0" anchor="t">
            <a:normAutofit/>
          </a:bodyPr>
          <a:lstStyle/>
          <a:p>
            <a:pPr algn="ctr" indent="0" marL="0">
              <a:lnSpc>
                <a:spcPts val="2380"/>
              </a:lnSpc>
              <a:buNone/>
            </a:pPr>
            <a:r>
              <a:rPr lang="en-US" sz="1700" b="1" dirty="0">
                <a:solidFill>
                  <a:srgbClr val="1B2130"/>
                </a:solidFill>
                <a:latin typeface="Arial" pitchFamily="34" charset="0"/>
                <a:ea typeface="Arial" pitchFamily="34" charset="-122"/>
                <a:cs typeface="Arial" pitchFamily="34" charset="-120"/>
              </a:rPr>
              <a:t>B</a:t>
            </a:r>
            <a:endParaRPr lang="en-US" sz="1700" dirty="0"/>
          </a:p>
        </p:txBody>
      </p:sp>
      <p:sp>
        <p:nvSpPr>
          <p:cNvPr id="15" name="Text 13"/>
          <p:cNvSpPr/>
          <p:nvPr/>
        </p:nvSpPr>
        <p:spPr>
          <a:xfrm>
            <a:off x="4248150" y="3741241"/>
            <a:ext cx="812800" cy="327620"/>
          </a:xfrm>
          <a:prstGeom prst="rect">
            <a:avLst/>
          </a:prstGeom>
          <a:noFill/>
          <a:ln/>
        </p:spPr>
        <p:txBody>
          <a:bodyPr wrap="square" lIns="0" tIns="0" rIns="0" bIns="0" rtlCol="0" anchor="t">
            <a:normAutofit/>
          </a:bodyPr>
          <a:lstStyle/>
          <a:p>
            <a:pPr algn="ctr" indent="0" marL="0">
              <a:lnSpc>
                <a:spcPts val="2380"/>
              </a:lnSpc>
              <a:buNone/>
            </a:pPr>
            <a:r>
              <a:rPr lang="en-US" sz="1700" b="1" dirty="0">
                <a:solidFill>
                  <a:srgbClr val="1B2130"/>
                </a:solidFill>
                <a:latin typeface="Arial" pitchFamily="34" charset="0"/>
                <a:ea typeface="Arial" pitchFamily="34" charset="-122"/>
                <a:cs typeface="Arial" pitchFamily="34" charset="-120"/>
              </a:rPr>
              <a:t>C</a:t>
            </a:r>
            <a:endParaRPr lang="en-US" sz="1700" dirty="0"/>
          </a:p>
        </p:txBody>
      </p:sp>
      <p:sp>
        <p:nvSpPr>
          <p:cNvPr id="16" name="Text 14"/>
          <p:cNvSpPr/>
          <p:nvPr/>
        </p:nvSpPr>
        <p:spPr>
          <a:xfrm>
            <a:off x="5073650" y="3741241"/>
            <a:ext cx="812800" cy="327620"/>
          </a:xfrm>
          <a:prstGeom prst="rect">
            <a:avLst/>
          </a:prstGeom>
          <a:noFill/>
          <a:ln/>
        </p:spPr>
        <p:txBody>
          <a:bodyPr wrap="square" lIns="0" tIns="0" rIns="0" bIns="0" rtlCol="0" anchor="t">
            <a:normAutofit/>
          </a:bodyPr>
          <a:lstStyle/>
          <a:p>
            <a:pPr algn="ctr" indent="0" marL="0">
              <a:lnSpc>
                <a:spcPts val="2380"/>
              </a:lnSpc>
              <a:buNone/>
            </a:pPr>
            <a:r>
              <a:rPr lang="en-US" sz="1700" b="1" dirty="0">
                <a:solidFill>
                  <a:srgbClr val="1B2130"/>
                </a:solidFill>
                <a:latin typeface="Arial" pitchFamily="34" charset="0"/>
                <a:ea typeface="Arial" pitchFamily="34" charset="-122"/>
                <a:cs typeface="Arial" pitchFamily="34" charset="-120"/>
              </a:rPr>
              <a:t>A</a:t>
            </a:r>
            <a:endParaRPr lang="en-US" sz="1700" dirty="0"/>
          </a:p>
        </p:txBody>
      </p:sp>
      <p:sp>
        <p:nvSpPr>
          <p:cNvPr id="17" name="Text 15"/>
          <p:cNvSpPr/>
          <p:nvPr/>
        </p:nvSpPr>
        <p:spPr>
          <a:xfrm>
            <a:off x="5899150" y="3741241"/>
            <a:ext cx="812800" cy="327620"/>
          </a:xfrm>
          <a:prstGeom prst="rect">
            <a:avLst/>
          </a:prstGeom>
          <a:noFill/>
          <a:ln/>
        </p:spPr>
        <p:txBody>
          <a:bodyPr wrap="square" lIns="0" tIns="0" rIns="0" bIns="0" rtlCol="0" anchor="t">
            <a:normAutofit/>
          </a:bodyPr>
          <a:lstStyle/>
          <a:p>
            <a:pPr algn="ctr" indent="0" marL="0">
              <a:lnSpc>
                <a:spcPts val="2380"/>
              </a:lnSpc>
              <a:buNone/>
            </a:pPr>
            <a:r>
              <a:rPr lang="en-US" sz="1700" b="1" dirty="0">
                <a:solidFill>
                  <a:srgbClr val="1B2130"/>
                </a:solidFill>
                <a:latin typeface="Arial" pitchFamily="34" charset="0"/>
                <a:ea typeface="Arial" pitchFamily="34" charset="-122"/>
                <a:cs typeface="Arial" pitchFamily="34" charset="-120"/>
              </a:rPr>
              <a:t>B</a:t>
            </a:r>
            <a:endParaRPr lang="en-US" sz="1700" dirty="0"/>
          </a:p>
        </p:txBody>
      </p:sp>
      <p:sp>
        <p:nvSpPr>
          <p:cNvPr id="18" name="Text 16"/>
          <p:cNvSpPr/>
          <p:nvPr/>
        </p:nvSpPr>
        <p:spPr>
          <a:xfrm>
            <a:off x="6724650" y="3741241"/>
            <a:ext cx="812800" cy="327620"/>
          </a:xfrm>
          <a:prstGeom prst="rect">
            <a:avLst/>
          </a:prstGeom>
          <a:noFill/>
          <a:ln/>
        </p:spPr>
        <p:txBody>
          <a:bodyPr wrap="square" lIns="0" tIns="0" rIns="0" bIns="0" rtlCol="0" anchor="t">
            <a:normAutofit/>
          </a:bodyPr>
          <a:lstStyle/>
          <a:p>
            <a:pPr algn="ctr" indent="0" marL="0">
              <a:lnSpc>
                <a:spcPts val="2380"/>
              </a:lnSpc>
              <a:buNone/>
            </a:pPr>
            <a:r>
              <a:rPr lang="en-US" sz="1700" b="1" dirty="0">
                <a:solidFill>
                  <a:srgbClr val="1B2130"/>
                </a:solidFill>
                <a:latin typeface="Arial" pitchFamily="34" charset="0"/>
                <a:ea typeface="Arial" pitchFamily="34" charset="-122"/>
                <a:cs typeface="Arial" pitchFamily="34" charset="-120"/>
              </a:rPr>
              <a:t>A</a:t>
            </a:r>
            <a:endParaRPr lang="en-US" sz="1700" dirty="0"/>
          </a:p>
        </p:txBody>
      </p:sp>
      <p:sp>
        <p:nvSpPr>
          <p:cNvPr id="19" name="Text 17"/>
          <p:cNvSpPr/>
          <p:nvPr/>
        </p:nvSpPr>
        <p:spPr>
          <a:xfrm>
            <a:off x="7550150" y="3741241"/>
            <a:ext cx="812800" cy="327620"/>
          </a:xfrm>
          <a:prstGeom prst="rect">
            <a:avLst/>
          </a:prstGeom>
          <a:noFill/>
          <a:ln/>
        </p:spPr>
        <p:txBody>
          <a:bodyPr wrap="square" lIns="0" tIns="0" rIns="0" bIns="0" rtlCol="0" anchor="t">
            <a:normAutofit/>
          </a:bodyPr>
          <a:lstStyle/>
          <a:p>
            <a:pPr algn="ctr" indent="0" marL="0">
              <a:lnSpc>
                <a:spcPts val="2380"/>
              </a:lnSpc>
              <a:buNone/>
            </a:pPr>
            <a:r>
              <a:rPr lang="en-US" sz="1700" b="1" dirty="0">
                <a:solidFill>
                  <a:srgbClr val="1B2130"/>
                </a:solidFill>
                <a:latin typeface="Arial" pitchFamily="34" charset="0"/>
                <a:ea typeface="Arial" pitchFamily="34" charset="-122"/>
                <a:cs typeface="Arial" pitchFamily="34" charset="-120"/>
              </a:rPr>
              <a:t>B</a:t>
            </a:r>
            <a:endParaRPr lang="en-US" sz="1700" dirty="0"/>
          </a:p>
        </p:txBody>
      </p:sp>
      <p:sp>
        <p:nvSpPr>
          <p:cNvPr id="20" name="Text 18"/>
          <p:cNvSpPr/>
          <p:nvPr/>
        </p:nvSpPr>
        <p:spPr>
          <a:xfrm>
            <a:off x="946150" y="4094262"/>
            <a:ext cx="812800" cy="327620"/>
          </a:xfrm>
          <a:prstGeom prst="rect">
            <a:avLst/>
          </a:prstGeom>
          <a:noFill/>
          <a:ln/>
        </p:spPr>
        <p:txBody>
          <a:bodyPr wrap="square" lIns="0" tIns="0" rIns="0" bIns="0" rtlCol="0" anchor="t">
            <a:normAutofit/>
          </a:bodyPr>
          <a:lstStyle/>
          <a:p>
            <a:pPr algn="ctr" indent="0" marL="0">
              <a:lnSpc>
                <a:spcPts val="2380"/>
              </a:lnSpc>
              <a:buNone/>
            </a:pPr>
            <a:r>
              <a:rPr lang="en-US" sz="1700" dirty="0">
                <a:solidFill>
                  <a:srgbClr val="5B6472"/>
                </a:solidFill>
                <a:latin typeface="Arial" pitchFamily="34" charset="0"/>
                <a:ea typeface="Arial" pitchFamily="34" charset="-122"/>
                <a:cs typeface="Arial" pitchFamily="34" charset="-120"/>
              </a:rPr>
              <a:t>0</a:t>
            </a:r>
            <a:endParaRPr lang="en-US" sz="1700" dirty="0"/>
          </a:p>
        </p:txBody>
      </p:sp>
      <p:sp>
        <p:nvSpPr>
          <p:cNvPr id="21" name="Text 19"/>
          <p:cNvSpPr/>
          <p:nvPr/>
        </p:nvSpPr>
        <p:spPr>
          <a:xfrm>
            <a:off x="1771650" y="4094262"/>
            <a:ext cx="812800" cy="327620"/>
          </a:xfrm>
          <a:prstGeom prst="rect">
            <a:avLst/>
          </a:prstGeom>
          <a:noFill/>
          <a:ln/>
        </p:spPr>
        <p:txBody>
          <a:bodyPr wrap="square" lIns="0" tIns="0" rIns="0" bIns="0" rtlCol="0" anchor="t">
            <a:normAutofit/>
          </a:bodyPr>
          <a:lstStyle/>
          <a:p>
            <a:pPr algn="ctr" indent="0" marL="0">
              <a:lnSpc>
                <a:spcPts val="2380"/>
              </a:lnSpc>
              <a:buNone/>
            </a:pPr>
            <a:r>
              <a:rPr lang="en-US" sz="1700" dirty="0">
                <a:solidFill>
                  <a:srgbClr val="5B6472"/>
                </a:solidFill>
                <a:latin typeface="Arial" pitchFamily="34" charset="0"/>
                <a:ea typeface="Arial" pitchFamily="34" charset="-122"/>
                <a:cs typeface="Arial" pitchFamily="34" charset="-120"/>
              </a:rPr>
              <a:t>0</a:t>
            </a:r>
            <a:endParaRPr lang="en-US" sz="1700" dirty="0"/>
          </a:p>
        </p:txBody>
      </p:sp>
      <p:sp>
        <p:nvSpPr>
          <p:cNvPr id="22" name="Text 20"/>
          <p:cNvSpPr/>
          <p:nvPr/>
        </p:nvSpPr>
        <p:spPr>
          <a:xfrm>
            <a:off x="2622550" y="4094262"/>
            <a:ext cx="762000" cy="302220"/>
          </a:xfrm>
          <a:custGeom>
            <a:avLst/>
            <a:gdLst/>
            <a:ahLst/>
            <a:cxnLst/>
            <a:rect l="l" t="t" r="r" b="b"/>
            <a:pathLst>
              <a:path w="762000" h="302220">
                <a:moveTo>
                  <a:pt x="50800" y="0"/>
                </a:moveTo>
                <a:lnTo>
                  <a:pt x="711200" y="0"/>
                </a:lnTo>
                <a:arcTo hR="50800" wR="50800" stAng="16200000" swAng="5400000"/>
                <a:lnTo>
                  <a:pt x="762000" y="251420"/>
                </a:lnTo>
                <a:arcTo hR="50800" wR="50800" stAng="0" swAng="5400000"/>
                <a:lnTo>
                  <a:pt x="50800" y="302220"/>
                </a:lnTo>
                <a:arcTo hR="50800" wR="50800" stAng="5400000" swAng="5400000"/>
                <a:lnTo>
                  <a:pt x="0" y="50800"/>
                </a:lnTo>
                <a:arcTo hR="50800" wR="50800" stAng="10800000" swAng="5400000"/>
                <a:close/>
              </a:path>
            </a:pathLst>
          </a:custGeom>
          <a:solidFill>
            <a:srgbClr val="17808F"/>
          </a:solidFill>
          <a:ln/>
        </p:spPr>
        <p:txBody>
          <a:bodyPr wrap="square" lIns="0" tIns="0" rIns="0" bIns="0" rtlCol="0" anchor="t">
            <a:normAutofit/>
          </a:bodyPr>
          <a:lstStyle/>
          <a:p>
            <a:pPr algn="ctr" indent="0" marL="0">
              <a:lnSpc>
                <a:spcPts val="2380"/>
              </a:lnSpc>
              <a:buNone/>
            </a:pPr>
            <a:r>
              <a:rPr lang="en-US" sz="1700" dirty="0">
                <a:solidFill>
                  <a:srgbClr val="FFFFFF"/>
                </a:solidFill>
                <a:latin typeface="Arial" pitchFamily="34" charset="0"/>
                <a:ea typeface="Arial" pitchFamily="34" charset="-122"/>
                <a:cs typeface="Arial" pitchFamily="34" charset="-120"/>
              </a:rPr>
              <a:t>1</a:t>
            </a:r>
            <a:endParaRPr lang="en-US" sz="1700" dirty="0"/>
          </a:p>
        </p:txBody>
      </p:sp>
      <p:sp>
        <p:nvSpPr>
          <p:cNvPr id="23" name="Text 21"/>
          <p:cNvSpPr/>
          <p:nvPr/>
        </p:nvSpPr>
        <p:spPr>
          <a:xfrm>
            <a:off x="3448050" y="4094262"/>
            <a:ext cx="762000" cy="302220"/>
          </a:xfrm>
          <a:custGeom>
            <a:avLst/>
            <a:gdLst/>
            <a:ahLst/>
            <a:cxnLst/>
            <a:rect l="l" t="t" r="r" b="b"/>
            <a:pathLst>
              <a:path w="762000" h="302220">
                <a:moveTo>
                  <a:pt x="50800" y="0"/>
                </a:moveTo>
                <a:lnTo>
                  <a:pt x="711200" y="0"/>
                </a:lnTo>
                <a:arcTo hR="50800" wR="50800" stAng="16200000" swAng="5400000"/>
                <a:lnTo>
                  <a:pt x="762000" y="251420"/>
                </a:lnTo>
                <a:arcTo hR="50800" wR="50800" stAng="0" swAng="5400000"/>
                <a:lnTo>
                  <a:pt x="50800" y="302220"/>
                </a:lnTo>
                <a:arcTo hR="50800" wR="50800" stAng="5400000" swAng="5400000"/>
                <a:lnTo>
                  <a:pt x="0" y="50800"/>
                </a:lnTo>
                <a:arcTo hR="50800" wR="50800" stAng="10800000" swAng="5400000"/>
                <a:close/>
              </a:path>
            </a:pathLst>
          </a:custGeom>
          <a:solidFill>
            <a:srgbClr val="17808F"/>
          </a:solidFill>
          <a:ln/>
        </p:spPr>
        <p:txBody>
          <a:bodyPr wrap="square" lIns="0" tIns="0" rIns="0" bIns="0" rtlCol="0" anchor="t">
            <a:normAutofit/>
          </a:bodyPr>
          <a:lstStyle/>
          <a:p>
            <a:pPr algn="ctr" indent="0" marL="0">
              <a:lnSpc>
                <a:spcPts val="2380"/>
              </a:lnSpc>
              <a:buNone/>
            </a:pPr>
            <a:r>
              <a:rPr lang="en-US" sz="1700" dirty="0">
                <a:solidFill>
                  <a:srgbClr val="FFFFFF"/>
                </a:solidFill>
                <a:latin typeface="Arial" pitchFamily="34" charset="0"/>
                <a:ea typeface="Arial" pitchFamily="34" charset="-122"/>
                <a:cs typeface="Arial" pitchFamily="34" charset="-120"/>
              </a:rPr>
              <a:t>2</a:t>
            </a:r>
            <a:endParaRPr lang="en-US" sz="1700" dirty="0"/>
          </a:p>
        </p:txBody>
      </p:sp>
      <p:sp>
        <p:nvSpPr>
          <p:cNvPr id="24" name="Text 22"/>
          <p:cNvSpPr/>
          <p:nvPr/>
        </p:nvSpPr>
        <p:spPr>
          <a:xfrm>
            <a:off x="4248150" y="4094262"/>
            <a:ext cx="812800" cy="327620"/>
          </a:xfrm>
          <a:prstGeom prst="rect">
            <a:avLst/>
          </a:prstGeom>
          <a:noFill/>
          <a:ln/>
        </p:spPr>
        <p:txBody>
          <a:bodyPr wrap="square" lIns="0" tIns="0" rIns="0" bIns="0" rtlCol="0" anchor="t">
            <a:normAutofit/>
          </a:bodyPr>
          <a:lstStyle/>
          <a:p>
            <a:pPr algn="ctr" indent="0" marL="0">
              <a:lnSpc>
                <a:spcPts val="2380"/>
              </a:lnSpc>
              <a:buNone/>
            </a:pPr>
            <a:r>
              <a:rPr lang="en-US" sz="1700" dirty="0">
                <a:solidFill>
                  <a:srgbClr val="5B6472"/>
                </a:solidFill>
                <a:latin typeface="Arial" pitchFamily="34" charset="0"/>
                <a:ea typeface="Arial" pitchFamily="34" charset="-122"/>
                <a:cs typeface="Arial" pitchFamily="34" charset="-120"/>
              </a:rPr>
              <a:t>0</a:t>
            </a:r>
            <a:endParaRPr lang="en-US" sz="1700" dirty="0"/>
          </a:p>
        </p:txBody>
      </p:sp>
      <p:sp>
        <p:nvSpPr>
          <p:cNvPr id="25" name="Text 23"/>
          <p:cNvSpPr/>
          <p:nvPr/>
        </p:nvSpPr>
        <p:spPr>
          <a:xfrm>
            <a:off x="5099050" y="4094262"/>
            <a:ext cx="762000" cy="302220"/>
          </a:xfrm>
          <a:custGeom>
            <a:avLst/>
            <a:gdLst/>
            <a:ahLst/>
            <a:cxnLst/>
            <a:rect l="l" t="t" r="r" b="b"/>
            <a:pathLst>
              <a:path w="762000" h="302220">
                <a:moveTo>
                  <a:pt x="50800" y="0"/>
                </a:moveTo>
                <a:lnTo>
                  <a:pt x="711200" y="0"/>
                </a:lnTo>
                <a:arcTo hR="50800" wR="50800" stAng="16200000" swAng="5400000"/>
                <a:lnTo>
                  <a:pt x="762000" y="251420"/>
                </a:lnTo>
                <a:arcTo hR="50800" wR="50800" stAng="0" swAng="5400000"/>
                <a:lnTo>
                  <a:pt x="50800" y="302220"/>
                </a:lnTo>
                <a:arcTo hR="50800" wR="50800" stAng="5400000" swAng="5400000"/>
                <a:lnTo>
                  <a:pt x="0" y="50800"/>
                </a:lnTo>
                <a:arcTo hR="50800" wR="50800" stAng="10800000" swAng="5400000"/>
                <a:close/>
              </a:path>
            </a:pathLst>
          </a:custGeom>
          <a:solidFill>
            <a:srgbClr val="17808F"/>
          </a:solidFill>
          <a:ln/>
        </p:spPr>
        <p:txBody>
          <a:bodyPr wrap="square" lIns="0" tIns="0" rIns="0" bIns="0" rtlCol="0" anchor="t">
            <a:normAutofit/>
          </a:bodyPr>
          <a:lstStyle/>
          <a:p>
            <a:pPr algn="ctr" indent="0" marL="0">
              <a:lnSpc>
                <a:spcPts val="2380"/>
              </a:lnSpc>
              <a:buNone/>
            </a:pPr>
            <a:r>
              <a:rPr lang="en-US" sz="1700" dirty="0">
                <a:solidFill>
                  <a:srgbClr val="FFFFFF"/>
                </a:solidFill>
                <a:latin typeface="Arial" pitchFamily="34" charset="0"/>
                <a:ea typeface="Arial" pitchFamily="34" charset="-122"/>
                <a:cs typeface="Arial" pitchFamily="34" charset="-120"/>
              </a:rPr>
              <a:t>1</a:t>
            </a:r>
            <a:endParaRPr lang="en-US" sz="1700" dirty="0"/>
          </a:p>
        </p:txBody>
      </p:sp>
      <p:sp>
        <p:nvSpPr>
          <p:cNvPr id="26" name="Text 24"/>
          <p:cNvSpPr/>
          <p:nvPr/>
        </p:nvSpPr>
        <p:spPr>
          <a:xfrm>
            <a:off x="5924550" y="4094262"/>
            <a:ext cx="762000" cy="302220"/>
          </a:xfrm>
          <a:custGeom>
            <a:avLst/>
            <a:gdLst/>
            <a:ahLst/>
            <a:cxnLst/>
            <a:rect l="l" t="t" r="r" b="b"/>
            <a:pathLst>
              <a:path w="762000" h="302220">
                <a:moveTo>
                  <a:pt x="50800" y="0"/>
                </a:moveTo>
                <a:lnTo>
                  <a:pt x="711200" y="0"/>
                </a:lnTo>
                <a:arcTo hR="50800" wR="50800" stAng="16200000" swAng="5400000"/>
                <a:lnTo>
                  <a:pt x="762000" y="251420"/>
                </a:lnTo>
                <a:arcTo hR="50800" wR="50800" stAng="0" swAng="5400000"/>
                <a:lnTo>
                  <a:pt x="50800" y="302220"/>
                </a:lnTo>
                <a:arcTo hR="50800" wR="50800" stAng="5400000" swAng="5400000"/>
                <a:lnTo>
                  <a:pt x="0" y="50800"/>
                </a:lnTo>
                <a:arcTo hR="50800" wR="50800" stAng="10800000" swAng="5400000"/>
                <a:close/>
              </a:path>
            </a:pathLst>
          </a:custGeom>
          <a:solidFill>
            <a:srgbClr val="17808F"/>
          </a:solidFill>
          <a:ln/>
        </p:spPr>
        <p:txBody>
          <a:bodyPr wrap="square" lIns="0" tIns="0" rIns="0" bIns="0" rtlCol="0" anchor="t">
            <a:normAutofit/>
          </a:bodyPr>
          <a:lstStyle/>
          <a:p>
            <a:pPr algn="ctr" indent="0" marL="0">
              <a:lnSpc>
                <a:spcPts val="2380"/>
              </a:lnSpc>
              <a:buNone/>
            </a:pPr>
            <a:r>
              <a:rPr lang="en-US" sz="1700" dirty="0">
                <a:solidFill>
                  <a:srgbClr val="FFFFFF"/>
                </a:solidFill>
                <a:latin typeface="Arial" pitchFamily="34" charset="0"/>
                <a:ea typeface="Arial" pitchFamily="34" charset="-122"/>
                <a:cs typeface="Arial" pitchFamily="34" charset="-120"/>
              </a:rPr>
              <a:t>2</a:t>
            </a:r>
            <a:endParaRPr lang="en-US" sz="1700" dirty="0"/>
          </a:p>
        </p:txBody>
      </p:sp>
      <p:sp>
        <p:nvSpPr>
          <p:cNvPr id="27" name="Text 25"/>
          <p:cNvSpPr/>
          <p:nvPr/>
        </p:nvSpPr>
        <p:spPr>
          <a:xfrm>
            <a:off x="6750050" y="4094262"/>
            <a:ext cx="762000" cy="302220"/>
          </a:xfrm>
          <a:custGeom>
            <a:avLst/>
            <a:gdLst/>
            <a:ahLst/>
            <a:cxnLst/>
            <a:rect l="l" t="t" r="r" b="b"/>
            <a:pathLst>
              <a:path w="762000" h="302220">
                <a:moveTo>
                  <a:pt x="50800" y="0"/>
                </a:moveTo>
                <a:lnTo>
                  <a:pt x="711200" y="0"/>
                </a:lnTo>
                <a:arcTo hR="50800" wR="50800" stAng="16200000" swAng="5400000"/>
                <a:lnTo>
                  <a:pt x="762000" y="251420"/>
                </a:lnTo>
                <a:arcTo hR="50800" wR="50800" stAng="0" swAng="5400000"/>
                <a:lnTo>
                  <a:pt x="50800" y="302220"/>
                </a:lnTo>
                <a:arcTo hR="50800" wR="50800" stAng="5400000" swAng="5400000"/>
                <a:lnTo>
                  <a:pt x="0" y="50800"/>
                </a:lnTo>
                <a:arcTo hR="50800" wR="50800" stAng="10800000" swAng="5400000"/>
                <a:close/>
              </a:path>
            </a:pathLst>
          </a:custGeom>
          <a:solidFill>
            <a:srgbClr val="17808F"/>
          </a:solidFill>
          <a:ln/>
        </p:spPr>
        <p:txBody>
          <a:bodyPr wrap="square" lIns="0" tIns="0" rIns="0" bIns="0" rtlCol="0" anchor="t">
            <a:normAutofit/>
          </a:bodyPr>
          <a:lstStyle/>
          <a:p>
            <a:pPr algn="ctr" indent="0" marL="0">
              <a:lnSpc>
                <a:spcPts val="2380"/>
              </a:lnSpc>
              <a:buNone/>
            </a:pPr>
            <a:r>
              <a:rPr lang="en-US" sz="1700" dirty="0">
                <a:solidFill>
                  <a:srgbClr val="FFFFFF"/>
                </a:solidFill>
                <a:latin typeface="Arial" pitchFamily="34" charset="0"/>
                <a:ea typeface="Arial" pitchFamily="34" charset="-122"/>
                <a:cs typeface="Arial" pitchFamily="34" charset="-120"/>
              </a:rPr>
              <a:t>3</a:t>
            </a:r>
            <a:endParaRPr lang="en-US" sz="1700" dirty="0"/>
          </a:p>
        </p:txBody>
      </p:sp>
      <p:sp>
        <p:nvSpPr>
          <p:cNvPr id="28" name="Text 26"/>
          <p:cNvSpPr/>
          <p:nvPr/>
        </p:nvSpPr>
        <p:spPr>
          <a:xfrm>
            <a:off x="7575550" y="4094262"/>
            <a:ext cx="762000" cy="302220"/>
          </a:xfrm>
          <a:custGeom>
            <a:avLst/>
            <a:gdLst/>
            <a:ahLst/>
            <a:cxnLst/>
            <a:rect l="l" t="t" r="r" b="b"/>
            <a:pathLst>
              <a:path w="762000" h="302220">
                <a:moveTo>
                  <a:pt x="50800" y="0"/>
                </a:moveTo>
                <a:lnTo>
                  <a:pt x="711200" y="0"/>
                </a:lnTo>
                <a:arcTo hR="50800" wR="50800" stAng="16200000" swAng="5400000"/>
                <a:lnTo>
                  <a:pt x="762000" y="251420"/>
                </a:lnTo>
                <a:arcTo hR="50800" wR="50800" stAng="0" swAng="5400000"/>
                <a:lnTo>
                  <a:pt x="50800" y="302220"/>
                </a:lnTo>
                <a:arcTo hR="50800" wR="50800" stAng="5400000" swAng="5400000"/>
                <a:lnTo>
                  <a:pt x="0" y="50800"/>
                </a:lnTo>
                <a:arcTo hR="50800" wR="50800" stAng="10800000" swAng="5400000"/>
                <a:close/>
              </a:path>
            </a:pathLst>
          </a:custGeom>
          <a:solidFill>
            <a:srgbClr val="17808F"/>
          </a:solidFill>
          <a:ln/>
        </p:spPr>
        <p:txBody>
          <a:bodyPr wrap="square" lIns="0" tIns="0" rIns="0" bIns="0" rtlCol="0" anchor="t">
            <a:normAutofit/>
          </a:bodyPr>
          <a:lstStyle/>
          <a:p>
            <a:pPr algn="ctr" indent="0" marL="0">
              <a:lnSpc>
                <a:spcPts val="2380"/>
              </a:lnSpc>
              <a:buNone/>
            </a:pPr>
            <a:r>
              <a:rPr lang="en-US" sz="1700" dirty="0">
                <a:solidFill>
                  <a:srgbClr val="FFFFFF"/>
                </a:solidFill>
                <a:latin typeface="Arial" pitchFamily="34" charset="0"/>
                <a:ea typeface="Arial" pitchFamily="34" charset="-122"/>
                <a:cs typeface="Arial" pitchFamily="34" charset="-120"/>
              </a:rPr>
              <a:t>4</a:t>
            </a:r>
            <a:endParaRPr lang="en-US" sz="1700" dirty="0"/>
          </a:p>
        </p:txBody>
      </p:sp>
      <p:sp>
        <p:nvSpPr>
          <p:cNvPr id="29" name="Text 27"/>
          <p:cNvSpPr/>
          <p:nvPr/>
        </p:nvSpPr>
        <p:spPr>
          <a:xfrm>
            <a:off x="971550" y="4447282"/>
            <a:ext cx="1055636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130"/>
                </a:solidFill>
                <a:latin typeface="Arial" pitchFamily="34" charset="0"/>
                <a:ea typeface="Arial" pitchFamily="34" charset="-122"/>
                <a:cs typeface="Arial" pitchFamily="34" charset="-120"/>
              </a:rPr>
              <a:t>LPS = [0, 0, 1, 2, 0, 1, 2, 3, 4] → 1 match at index 10 (L:1, C:11)</a:t>
            </a:r>
            <a:endParaRPr lang="en-US" sz="1300" dirty="0"/>
          </a:p>
        </p:txBody>
      </p:sp>
      <p:sp>
        <p:nvSpPr>
          <p:cNvPr id="30" name="Text 28"/>
          <p:cNvSpPr/>
          <p:nvPr/>
        </p:nvSpPr>
        <p:spPr>
          <a:xfrm>
            <a:off x="812800" y="6238280"/>
            <a:ext cx="16063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25CS2103E · 8 / 13</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6096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23A35"/>
                </a:solidFill>
                <a:latin typeface="Arial" pitchFamily="34" charset="0"/>
                <a:ea typeface="Arial" pitchFamily="34" charset="-122"/>
                <a:cs typeface="Arial" pitchFamily="34" charset="-120"/>
              </a:rPr>
              <a:t>ALGORITHM 4</a:t>
            </a:r>
            <a:endParaRPr lang="en-US" sz="1300" dirty="0"/>
          </a:p>
        </p:txBody>
      </p:sp>
      <p:sp>
        <p:nvSpPr>
          <p:cNvPr id="3" name="Text 1"/>
          <p:cNvSpPr/>
          <p:nvPr>
            <p:ph type="title"/>
          </p:nvPr>
        </p:nvSpPr>
        <p:spPr>
          <a:xfrm>
            <a:off x="812800" y="101848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130"/>
                </a:solidFill>
                <a:latin typeface="Arial" pitchFamily="34" charset="0"/>
                <a:ea typeface="Arial" pitchFamily="34" charset="-122"/>
                <a:cs typeface="Arial" pitchFamily="34" charset="-120"/>
              </a:rPr>
              <a:t>Boyer-Moore (Bad Character Heuristic)</a:t>
            </a:r>
            <a:endParaRPr lang="en-US" sz="3000" dirty="0"/>
          </a:p>
        </p:txBody>
      </p:sp>
      <p:sp>
        <p:nvSpPr>
          <p:cNvPr id="4" name="Text 2"/>
          <p:cNvSpPr/>
          <p:nvPr/>
        </p:nvSpPr>
        <p:spPr>
          <a:xfrm>
            <a:off x="812800" y="1615380"/>
            <a:ext cx="6749796" cy="77192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130"/>
                </a:solidFill>
                <a:latin typeface="Arial" pitchFamily="34" charset="0"/>
                <a:ea typeface="Arial" pitchFamily="34" charset="-122"/>
                <a:cs typeface="Arial" pitchFamily="34" charset="-120"/>
              </a:rPr>
              <a:t>Right-to-left scan</a:t>
            </a:r>
            <a:r>
              <a:rPr lang="en-US" sz="1400" dirty="0">
                <a:solidFill>
                  <a:srgbClr val="1B2130"/>
                </a:solidFill>
                <a:latin typeface="Arial" pitchFamily="34" charset="0"/>
                <a:ea typeface="Arial" pitchFamily="34" charset="-122"/>
                <a:cs typeface="Arial" pitchFamily="34" charset="-120"/>
              </a:rPr>
              <a:t> of the pattern against the text window.</a:t>
            </a:r>
            <a:endParaRPr lang="en-US" sz="1400" dirty="0"/>
          </a:p>
          <a:p>
            <a:pPr algn="l" indent="0" marL="0">
              <a:lnSpc>
                <a:spcPts val="1960"/>
              </a:lnSpc>
              <a:buNone/>
            </a:pPr>
            <a:r>
              <a:rPr lang="en-US" sz="1400" b="1" dirty="0">
                <a:solidFill>
                  <a:srgbClr val="1B2130"/>
                </a:solidFill>
                <a:latin typeface="Arial" pitchFamily="34" charset="0"/>
                <a:ea typeface="Arial" pitchFamily="34" charset="-122"/>
                <a:cs typeface="Arial" pitchFamily="34" charset="-120"/>
              </a:rPr>
              <a:t>Bad character rule</a:t>
            </a:r>
            <a:r>
              <a:rPr lang="en-US" sz="1400" dirty="0">
                <a:solidFill>
                  <a:srgbClr val="1B2130"/>
                </a:solidFill>
                <a:latin typeface="Arial" pitchFamily="34" charset="0"/>
                <a:ea typeface="Arial" pitchFamily="34" charset="-122"/>
                <a:cs typeface="Arial" pitchFamily="34" charset="-120"/>
              </a:rPr>
              <a:t>: on a mismatch at pattern index j with text char c,</a:t>
            </a:r>
            <a:endParaRPr lang="en-US" sz="1400" dirty="0"/>
          </a:p>
          <a:p>
            <a:pPr algn="l" indent="0" marL="0">
              <a:lnSpc>
                <a:spcPts val="1960"/>
              </a:lnSpc>
              <a:buNone/>
            </a:pPr>
            <a:r>
              <a:rPr lang="en-US" sz="1400" dirty="0">
                <a:solidFill>
                  <a:srgbClr val="1B2130"/>
                </a:solidFill>
                <a:latin typeface="Arial" pitchFamily="34" charset="0"/>
                <a:ea typeface="Arial" pitchFamily="34" charset="-122"/>
                <a:cs typeface="Arial" pitchFamily="34" charset="-120"/>
              </a:rPr>
              <a:t>shift = max(1, j − last[c]), where last[c] is the rightmost index of c in P (−1 if absent).</a:t>
            </a:r>
            <a:endParaRPr lang="en-US" sz="1400" dirty="0"/>
          </a:p>
        </p:txBody>
      </p:sp>
      <p:sp>
        <p:nvSpPr>
          <p:cNvPr id="5" name="Shape 3"/>
          <p:cNvSpPr/>
          <p:nvPr/>
        </p:nvSpPr>
        <p:spPr>
          <a:xfrm>
            <a:off x="7575550" y="1621730"/>
            <a:ext cx="3797300" cy="940991"/>
          </a:xfrm>
          <a:prstGeom prst="roundRect">
            <a:avLst>
              <a:gd name="adj" fmla="val 10122"/>
            </a:avLst>
          </a:prstGeom>
          <a:solidFill>
            <a:srgbClr val="FFFFFF"/>
          </a:solidFill>
          <a:ln w="12700">
            <a:solidFill>
              <a:srgbClr val="17808F"/>
            </a:solidFill>
            <a:prstDash val="solid"/>
          </a:ln>
        </p:spPr>
      </p:sp>
      <p:sp>
        <p:nvSpPr>
          <p:cNvPr id="6" name="Text 4"/>
          <p:cNvSpPr/>
          <p:nvPr/>
        </p:nvSpPr>
        <p:spPr>
          <a:xfrm>
            <a:off x="7734300" y="1755080"/>
            <a:ext cx="35841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808F"/>
                </a:solidFill>
                <a:latin typeface="Arial" pitchFamily="34" charset="0"/>
                <a:ea typeface="Arial" pitchFamily="34" charset="-122"/>
                <a:cs typeface="Arial" pitchFamily="34" charset="-120"/>
              </a:rPr>
              <a:t>Best case: O(n/m)</a:t>
            </a:r>
            <a:endParaRPr lang="en-US" sz="1500" dirty="0"/>
          </a:p>
        </p:txBody>
      </p:sp>
      <p:sp>
        <p:nvSpPr>
          <p:cNvPr id="7" name="Text 5"/>
          <p:cNvSpPr/>
          <p:nvPr/>
        </p:nvSpPr>
        <p:spPr>
          <a:xfrm>
            <a:off x="7734300" y="1983680"/>
            <a:ext cx="358419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130"/>
                </a:solidFill>
                <a:latin typeface="Arial" pitchFamily="34" charset="0"/>
                <a:ea typeface="Arial" pitchFamily="34" charset="-122"/>
                <a:cs typeface="Arial" pitchFamily="34" charset="-120"/>
              </a:rPr>
              <a:t>Every probe hits a char absent from P, so we jump m.</a:t>
            </a:r>
            <a:endParaRPr lang="en-US" sz="1300" dirty="0"/>
          </a:p>
        </p:txBody>
      </p:sp>
      <p:sp>
        <p:nvSpPr>
          <p:cNvPr id="8" name="Shape 6"/>
          <p:cNvSpPr/>
          <p:nvPr/>
        </p:nvSpPr>
        <p:spPr>
          <a:xfrm>
            <a:off x="7575550" y="2651621"/>
            <a:ext cx="3797300" cy="718145"/>
          </a:xfrm>
          <a:prstGeom prst="roundRect">
            <a:avLst>
              <a:gd name="adj" fmla="val 13263"/>
            </a:avLst>
          </a:prstGeom>
          <a:solidFill>
            <a:srgbClr val="FFFFFF"/>
          </a:solidFill>
          <a:ln w="12700">
            <a:solidFill>
              <a:srgbClr val="B23A35"/>
            </a:solidFill>
            <a:prstDash val="solid"/>
          </a:ln>
        </p:spPr>
      </p:sp>
      <p:sp>
        <p:nvSpPr>
          <p:cNvPr id="9" name="Text 7"/>
          <p:cNvSpPr/>
          <p:nvPr/>
        </p:nvSpPr>
        <p:spPr>
          <a:xfrm>
            <a:off x="7734300" y="2784971"/>
            <a:ext cx="35841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23A35"/>
                </a:solidFill>
                <a:latin typeface="Arial" pitchFamily="34" charset="0"/>
                <a:ea typeface="Arial" pitchFamily="34" charset="-122"/>
                <a:cs typeface="Arial" pitchFamily="34" charset="-120"/>
              </a:rPr>
              <a:t>Worst case: O(n·m)</a:t>
            </a:r>
            <a:endParaRPr lang="en-US" sz="1500" dirty="0"/>
          </a:p>
        </p:txBody>
      </p:sp>
      <p:sp>
        <p:nvSpPr>
          <p:cNvPr id="10" name="Text 8"/>
          <p:cNvSpPr/>
          <p:nvPr/>
        </p:nvSpPr>
        <p:spPr>
          <a:xfrm>
            <a:off x="7734300" y="3013571"/>
            <a:ext cx="3584194"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130"/>
                </a:solidFill>
                <a:latin typeface="Arial" pitchFamily="34" charset="0"/>
                <a:ea typeface="Arial" pitchFamily="34" charset="-122"/>
                <a:cs typeface="Arial" pitchFamily="34" charset="-120"/>
              </a:rPr>
              <a:t>With bad-char only, e.g. T = Aⁿ, P = BAᵐ⁻¹.</a:t>
            </a:r>
            <a:endParaRPr lang="en-US" sz="1300" dirty="0"/>
          </a:p>
        </p:txBody>
      </p:sp>
      <p:sp>
        <p:nvSpPr>
          <p:cNvPr id="11" name="Text 9"/>
          <p:cNvSpPr/>
          <p:nvPr/>
        </p:nvSpPr>
        <p:spPr>
          <a:xfrm>
            <a:off x="7572375" y="3455491"/>
            <a:ext cx="3803650" cy="488950"/>
          </a:xfrm>
          <a:prstGeom prst="roundRect">
            <a:avLst>
              <a:gd name="adj" fmla="val 20130"/>
            </a:avLst>
          </a:prstGeom>
          <a:solidFill>
            <a:srgbClr val="FFFFFF"/>
          </a:solidFill>
          <a:ln w="6350">
            <a:solidFill>
              <a:srgbClr val="DCD8CF"/>
            </a:solidFill>
            <a:prstDash val="solid"/>
          </a:ln>
        </p:spPr>
        <p:txBody>
          <a:bodyPr wrap="square" lIns="126747" tIns="101347" rIns="21972" bIns="75947" rtlCol="0" anchor="t">
            <a:normAutofit/>
          </a:bodyPr>
          <a:lstStyle/>
          <a:p>
            <a:pPr algn="l" indent="0" marL="0">
              <a:lnSpc>
                <a:spcPts val="1800"/>
              </a:lnSpc>
              <a:buNone/>
            </a:pPr>
            <a:r>
              <a:rPr lang="en-US" sz="1500" b="1" dirty="0">
                <a:solidFill>
                  <a:srgbClr val="1B2130"/>
                </a:solidFill>
                <a:latin typeface="Arial" pitchFamily="34" charset="0"/>
                <a:ea typeface="Arial" pitchFamily="34" charset="-122"/>
                <a:cs typeface="Arial" pitchFamily="34" charset="-120"/>
              </a:rPr>
              <a:t>Space: O(σ) table</a:t>
            </a:r>
            <a:endParaRPr lang="en-US" sz="1500" dirty="0"/>
          </a:p>
        </p:txBody>
      </p:sp>
      <p:sp>
        <p:nvSpPr>
          <p:cNvPr id="12" name="Shape 10"/>
          <p:cNvSpPr/>
          <p:nvPr/>
        </p:nvSpPr>
        <p:spPr>
          <a:xfrm>
            <a:off x="815975" y="4128591"/>
            <a:ext cx="10560050" cy="1072952"/>
          </a:xfrm>
          <a:prstGeom prst="roundRect">
            <a:avLst>
              <a:gd name="adj" fmla="val 9173"/>
            </a:avLst>
          </a:prstGeom>
          <a:solidFill>
            <a:srgbClr val="FFFFFF"/>
          </a:solidFill>
          <a:ln w="6350">
            <a:solidFill>
              <a:srgbClr val="DCD8CF"/>
            </a:solidFill>
            <a:prstDash val="solid"/>
          </a:ln>
        </p:spPr>
      </p:sp>
      <p:sp>
        <p:nvSpPr>
          <p:cNvPr id="13" name="Text 11"/>
          <p:cNvSpPr/>
          <p:nvPr/>
        </p:nvSpPr>
        <p:spPr>
          <a:xfrm>
            <a:off x="971550" y="4284166"/>
            <a:ext cx="105563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Our run: P = EXAMPLE, T = HERE IS A SIMPLE EXAMPLE → match at 17 (L:1, C:18)</a:t>
            </a:r>
            <a:endParaRPr lang="en-US" sz="1200" dirty="0"/>
          </a:p>
        </p:txBody>
      </p:sp>
      <p:sp>
        <p:nvSpPr>
          <p:cNvPr id="14" name="Text 12"/>
          <p:cNvSpPr/>
          <p:nvPr/>
        </p:nvSpPr>
        <p:spPr>
          <a:xfrm>
            <a:off x="971550" y="4548287"/>
            <a:ext cx="1055636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130"/>
                </a:solidFill>
                <a:latin typeface="Arial" pitchFamily="34" charset="0"/>
                <a:ea typeface="Arial" pitchFamily="34" charset="-122"/>
                <a:cs typeface="Arial" pitchFamily="34" charset="-120"/>
              </a:rPr>
              <a:t>last[ ] = E:6 · X:1 · A:2 · M:3 · P:4 · L:5. First window: compare P[6] = E with T[6] = S; S is not in P, so shift = 6 − (−1) = 7 and the whole pattern is skipped.</a:t>
            </a:r>
            <a:endParaRPr lang="en-US" sz="1400" dirty="0"/>
          </a:p>
        </p:txBody>
      </p:sp>
      <p:sp>
        <p:nvSpPr>
          <p:cNvPr id="15" name="Text 13"/>
          <p:cNvSpPr/>
          <p:nvPr/>
        </p:nvSpPr>
        <p:spPr>
          <a:xfrm>
            <a:off x="812800" y="6238280"/>
            <a:ext cx="16063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25CS2103E · 9 / 13</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6096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23A35"/>
                </a:solidFill>
                <a:latin typeface="Arial" pitchFamily="34" charset="0"/>
                <a:ea typeface="Arial" pitchFamily="34" charset="-122"/>
                <a:cs typeface="Arial" pitchFamily="34" charset="-120"/>
              </a:rPr>
              <a:t>ALGORITHM 5</a:t>
            </a:r>
            <a:endParaRPr lang="en-US" sz="1300" dirty="0"/>
          </a:p>
        </p:txBody>
      </p:sp>
      <p:sp>
        <p:nvSpPr>
          <p:cNvPr id="3" name="Text 1"/>
          <p:cNvSpPr/>
          <p:nvPr>
            <p:ph type="title"/>
          </p:nvPr>
        </p:nvSpPr>
        <p:spPr>
          <a:xfrm>
            <a:off x="812800" y="101848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130"/>
                </a:solidFill>
                <a:latin typeface="Arial" pitchFamily="34" charset="0"/>
                <a:ea typeface="Arial" pitchFamily="34" charset="-122"/>
                <a:cs typeface="Arial" pitchFamily="34" charset="-120"/>
              </a:rPr>
              <a:t>Rabin-Karp (Rolling Hash, q = 101)</a:t>
            </a:r>
            <a:endParaRPr lang="en-US" sz="3000" dirty="0"/>
          </a:p>
        </p:txBody>
      </p:sp>
      <p:sp>
        <p:nvSpPr>
          <p:cNvPr id="4" name="Shape 2"/>
          <p:cNvSpPr/>
          <p:nvPr/>
        </p:nvSpPr>
        <p:spPr>
          <a:xfrm>
            <a:off x="812800" y="1615380"/>
            <a:ext cx="6553200" cy="1886545"/>
          </a:xfrm>
          <a:prstGeom prst="roundRect">
            <a:avLst>
              <a:gd name="adj" fmla="val 5386"/>
            </a:avLst>
          </a:prstGeom>
          <a:solidFill>
            <a:srgbClr val="151A24"/>
          </a:solidFill>
          <a:ln/>
        </p:spPr>
      </p:sp>
      <p:sp>
        <p:nvSpPr>
          <p:cNvPr id="5" name="Text 3"/>
          <p:cNvSpPr/>
          <p:nvPr/>
        </p:nvSpPr>
        <p:spPr>
          <a:xfrm>
            <a:off x="990600" y="1793180"/>
            <a:ext cx="638352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8776F"/>
                </a:solidFill>
                <a:latin typeface="Arial" pitchFamily="34" charset="0"/>
                <a:ea typeface="Arial" pitchFamily="34" charset="-122"/>
                <a:cs typeface="Arial" pitchFamily="34" charset="-120"/>
              </a:rPr>
              <a:t>POLYNOMIAL HASH</a:t>
            </a:r>
            <a:endParaRPr lang="en-US" sz="1300" dirty="0"/>
          </a:p>
        </p:txBody>
      </p:sp>
      <p:sp>
        <p:nvSpPr>
          <p:cNvPr id="6" name="Text 4"/>
          <p:cNvSpPr/>
          <p:nvPr/>
        </p:nvSpPr>
        <p:spPr>
          <a:xfrm>
            <a:off x="990600" y="2100461"/>
            <a:ext cx="6383528"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Arial" pitchFamily="34" charset="0"/>
                <a:ea typeface="Arial" pitchFamily="34" charset="-122"/>
                <a:cs typeface="Arial" pitchFamily="34" charset="-120"/>
              </a:rPr>
              <a:t>h(s) = (s₀·d^(m−1) + s₁·d^(m−2) + … + s_(m−1)) mod q</a:t>
            </a:r>
            <a:endParaRPr lang="en-US" sz="1400" dirty="0"/>
          </a:p>
          <a:p>
            <a:pPr algn="l" indent="0" marL="0">
              <a:lnSpc>
                <a:spcPts val="1960"/>
              </a:lnSpc>
              <a:buNone/>
            </a:pPr>
            <a:r>
              <a:rPr lang="en-US" sz="1400" dirty="0">
                <a:solidFill>
                  <a:srgbClr val="F2EFE8"/>
                </a:solidFill>
                <a:latin typeface="Arial" pitchFamily="34" charset="0"/>
                <a:ea typeface="Arial" pitchFamily="34" charset="-122"/>
                <a:cs typeface="Arial" pitchFamily="34" charset="-120"/>
              </a:rPr>
              <a:t>Rolling update, O(1):</a:t>
            </a:r>
            <a:endParaRPr lang="en-US" sz="1400" dirty="0"/>
          </a:p>
          <a:p>
            <a:pPr algn="l" indent="0" marL="0">
              <a:lnSpc>
                <a:spcPts val="1960"/>
              </a:lnSpc>
              <a:buNone/>
            </a:pPr>
            <a:r>
              <a:rPr lang="en-US" sz="1400" dirty="0">
                <a:solidFill>
                  <a:srgbClr val="F2EFE8"/>
                </a:solidFill>
                <a:latin typeface="Arial" pitchFamily="34" charset="0"/>
                <a:ea typeface="Arial" pitchFamily="34" charset="-122"/>
                <a:cs typeface="Arial" pitchFamily="34" charset="-120"/>
              </a:rPr>
              <a:t>h_(i+1) = (d·(h_i − T[i]·H) + T[i+m]) mod q, with H = d^(m−1) mod q</a:t>
            </a:r>
            <a:endParaRPr lang="en-US" sz="1400" dirty="0"/>
          </a:p>
        </p:txBody>
      </p:sp>
      <p:sp>
        <p:nvSpPr>
          <p:cNvPr id="7" name="Text 5"/>
          <p:cNvSpPr/>
          <p:nvPr/>
        </p:nvSpPr>
        <p:spPr>
          <a:xfrm>
            <a:off x="7575550" y="1621730"/>
            <a:ext cx="3797300" cy="495300"/>
          </a:xfrm>
          <a:prstGeom prst="roundRect">
            <a:avLst>
              <a:gd name="adj" fmla="val 19231"/>
            </a:avLst>
          </a:prstGeom>
          <a:solidFill>
            <a:srgbClr val="FFFFFF"/>
          </a:solidFill>
          <a:ln w="12700">
            <a:solidFill>
              <a:srgbClr val="17808F"/>
            </a:solidFill>
            <a:prstDash val="solid"/>
          </a:ln>
        </p:spPr>
        <p:txBody>
          <a:bodyPr wrap="square" lIns="130852" tIns="105452" rIns="26458" bIns="80052" rtlCol="0" anchor="t">
            <a:normAutofit/>
          </a:bodyPr>
          <a:lstStyle/>
          <a:p>
            <a:pPr algn="l" indent="0" marL="0">
              <a:lnSpc>
                <a:spcPts val="1800"/>
              </a:lnSpc>
              <a:buNone/>
            </a:pPr>
            <a:r>
              <a:rPr lang="en-US" sz="1500" b="1" dirty="0">
                <a:solidFill>
                  <a:srgbClr val="17808F"/>
                </a:solidFill>
                <a:latin typeface="Arial" pitchFamily="34" charset="0"/>
                <a:ea typeface="Arial" pitchFamily="34" charset="-122"/>
                <a:cs typeface="Arial" pitchFamily="34" charset="-120"/>
              </a:rPr>
              <a:t>Expected: O(n + m)</a:t>
            </a:r>
            <a:endParaRPr lang="en-US" sz="1500" dirty="0"/>
          </a:p>
        </p:txBody>
      </p:sp>
      <p:sp>
        <p:nvSpPr>
          <p:cNvPr id="8" name="Shape 6"/>
          <p:cNvSpPr/>
          <p:nvPr/>
        </p:nvSpPr>
        <p:spPr>
          <a:xfrm>
            <a:off x="7575550" y="2205930"/>
            <a:ext cx="3797300" cy="718145"/>
          </a:xfrm>
          <a:prstGeom prst="roundRect">
            <a:avLst>
              <a:gd name="adj" fmla="val 13263"/>
            </a:avLst>
          </a:prstGeom>
          <a:solidFill>
            <a:srgbClr val="FFFFFF"/>
          </a:solidFill>
          <a:ln w="12700">
            <a:solidFill>
              <a:srgbClr val="B23A35"/>
            </a:solidFill>
            <a:prstDash val="solid"/>
          </a:ln>
        </p:spPr>
      </p:sp>
      <p:sp>
        <p:nvSpPr>
          <p:cNvPr id="9" name="Text 7"/>
          <p:cNvSpPr/>
          <p:nvPr/>
        </p:nvSpPr>
        <p:spPr>
          <a:xfrm>
            <a:off x="7734300" y="2339280"/>
            <a:ext cx="35841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23A35"/>
                </a:solidFill>
                <a:latin typeface="Arial" pitchFamily="34" charset="0"/>
                <a:ea typeface="Arial" pitchFamily="34" charset="-122"/>
                <a:cs typeface="Arial" pitchFamily="34" charset="-120"/>
              </a:rPr>
              <a:t>Worst: O(n·m)</a:t>
            </a:r>
            <a:endParaRPr lang="en-US" sz="1500" dirty="0"/>
          </a:p>
        </p:txBody>
      </p:sp>
      <p:sp>
        <p:nvSpPr>
          <p:cNvPr id="10" name="Text 8"/>
          <p:cNvSpPr/>
          <p:nvPr/>
        </p:nvSpPr>
        <p:spPr>
          <a:xfrm>
            <a:off x="7734300" y="2567880"/>
            <a:ext cx="3584194"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130"/>
                </a:solidFill>
                <a:latin typeface="Arial" pitchFamily="34" charset="0"/>
                <a:ea typeface="Arial" pitchFamily="34" charset="-122"/>
                <a:cs typeface="Arial" pitchFamily="34" charset="-120"/>
              </a:rPr>
              <a:t>Many spurious hash hits.</a:t>
            </a:r>
            <a:endParaRPr lang="en-US" sz="1300" dirty="0"/>
          </a:p>
        </p:txBody>
      </p:sp>
      <p:sp>
        <p:nvSpPr>
          <p:cNvPr id="11" name="Text 9"/>
          <p:cNvSpPr/>
          <p:nvPr/>
        </p:nvSpPr>
        <p:spPr>
          <a:xfrm>
            <a:off x="7572375" y="3009801"/>
            <a:ext cx="3803650" cy="488950"/>
          </a:xfrm>
          <a:prstGeom prst="roundRect">
            <a:avLst>
              <a:gd name="adj" fmla="val 20130"/>
            </a:avLst>
          </a:prstGeom>
          <a:solidFill>
            <a:srgbClr val="FFFFFF"/>
          </a:solidFill>
          <a:ln w="6350">
            <a:solidFill>
              <a:srgbClr val="DCD8CF"/>
            </a:solidFill>
            <a:prstDash val="solid"/>
          </a:ln>
        </p:spPr>
        <p:txBody>
          <a:bodyPr wrap="square" lIns="126747" tIns="101347" rIns="21972" bIns="75947" rtlCol="0" anchor="t">
            <a:normAutofit/>
          </a:bodyPr>
          <a:lstStyle/>
          <a:p>
            <a:pPr algn="l" indent="0" marL="0">
              <a:lnSpc>
                <a:spcPts val="1800"/>
              </a:lnSpc>
              <a:buNone/>
            </a:pPr>
            <a:r>
              <a:rPr lang="en-US" sz="1500" b="1" dirty="0">
                <a:solidFill>
                  <a:srgbClr val="1B2130"/>
                </a:solidFill>
                <a:latin typeface="Arial" pitchFamily="34" charset="0"/>
                <a:ea typeface="Arial" pitchFamily="34" charset="-122"/>
                <a:cs typeface="Arial" pitchFamily="34" charset="-120"/>
              </a:rPr>
              <a:t>Space: O(1)</a:t>
            </a:r>
            <a:endParaRPr lang="en-US" sz="1500" dirty="0"/>
          </a:p>
        </p:txBody>
      </p:sp>
      <p:sp>
        <p:nvSpPr>
          <p:cNvPr id="12" name="Shape 10"/>
          <p:cNvSpPr/>
          <p:nvPr/>
        </p:nvSpPr>
        <p:spPr>
          <a:xfrm>
            <a:off x="815975" y="3682901"/>
            <a:ext cx="10560050" cy="1072952"/>
          </a:xfrm>
          <a:prstGeom prst="roundRect">
            <a:avLst>
              <a:gd name="adj" fmla="val 9173"/>
            </a:avLst>
          </a:prstGeom>
          <a:solidFill>
            <a:srgbClr val="FFFFFF"/>
          </a:solidFill>
          <a:ln w="6350">
            <a:solidFill>
              <a:srgbClr val="DCD8CF"/>
            </a:solidFill>
            <a:prstDash val="solid"/>
          </a:ln>
        </p:spPr>
      </p:sp>
      <p:sp>
        <p:nvSpPr>
          <p:cNvPr id="13" name="Text 11"/>
          <p:cNvSpPr/>
          <p:nvPr/>
        </p:nvSpPr>
        <p:spPr>
          <a:xfrm>
            <a:off x="971550" y="3838476"/>
            <a:ext cx="105563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Our run: P = 265 in T = 3141592653589793, base d = 10</a:t>
            </a:r>
            <a:endParaRPr lang="en-US" sz="1200" dirty="0"/>
          </a:p>
        </p:txBody>
      </p:sp>
      <p:sp>
        <p:nvSpPr>
          <p:cNvPr id="14" name="Text 12"/>
          <p:cNvSpPr/>
          <p:nvPr/>
        </p:nvSpPr>
        <p:spPr>
          <a:xfrm>
            <a:off x="971550" y="4102596"/>
            <a:ext cx="1055636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130"/>
                </a:solidFill>
                <a:latin typeface="Arial" pitchFamily="34" charset="0"/>
                <a:ea typeface="Arial" pitchFamily="34" charset="-122"/>
                <a:cs typeface="Arial" pitchFamily="34" charset="-120"/>
              </a:rPr>
              <a:t>h(265) = 265 mod 101 = </a:t>
            </a:r>
            <a:r>
              <a:rPr lang="en-US" sz="1400" b="1" dirty="0">
                <a:solidFill>
                  <a:srgbClr val="1B2130"/>
                </a:solidFill>
                <a:latin typeface="Arial" pitchFamily="34" charset="0"/>
                <a:ea typeface="Arial" pitchFamily="34" charset="-122"/>
                <a:cs typeface="Arial" pitchFamily="34" charset="-120"/>
              </a:rPr>
              <a:t>63</a:t>
            </a:r>
            <a:r>
              <a:rPr lang="en-US" sz="1400" dirty="0">
                <a:solidFill>
                  <a:srgbClr val="1B2130"/>
                </a:solidFill>
                <a:latin typeface="Arial" pitchFamily="34" charset="0"/>
                <a:ea typeface="Arial" pitchFamily="34" charset="-122"/>
                <a:cs typeface="Arial" pitchFamily="34" charset="-120"/>
              </a:rPr>
              <a:t>. Window hashes: 314→11, 141→40, 415→11, 159→58, 592→87, 926→17, 265→</a:t>
            </a:r>
            <a:r>
              <a:rPr lang="en-US" sz="1400" b="1" dirty="0">
                <a:solidFill>
                  <a:srgbClr val="B23A35"/>
                </a:solidFill>
                <a:latin typeface="Arial" pitchFamily="34" charset="0"/>
                <a:ea typeface="Arial" pitchFamily="34" charset="-122"/>
                <a:cs typeface="Arial" pitchFamily="34" charset="-120"/>
              </a:rPr>
              <a:t>63</a:t>
            </a:r>
            <a:r>
              <a:rPr lang="en-US" sz="1400" dirty="0">
                <a:solidFill>
                  <a:srgbClr val="1B2130"/>
                </a:solidFill>
                <a:latin typeface="Arial" pitchFamily="34" charset="0"/>
                <a:ea typeface="Arial" pitchFamily="34" charset="-122"/>
                <a:cs typeface="Arial" pitchFamily="34" charset="-120"/>
              </a:rPr>
              <a:t> (match at 6).</a:t>
            </a:r>
            <a:endParaRPr lang="en-US" sz="1400" dirty="0"/>
          </a:p>
          <a:p>
            <a:pPr algn="l" indent="0" marL="0">
              <a:lnSpc>
                <a:spcPts val="1960"/>
              </a:lnSpc>
              <a:buNone/>
            </a:pPr>
            <a:r>
              <a:rPr lang="en-US" sz="1400" b="1" dirty="0">
                <a:solidFill>
                  <a:srgbClr val="1B2130"/>
                </a:solidFill>
                <a:latin typeface="Arial" pitchFamily="34" charset="0"/>
                <a:ea typeface="Arial" pitchFamily="34" charset="-122"/>
                <a:cs typeface="Arial" pitchFamily="34" charset="-120"/>
              </a:rPr>
              <a:t>Collision handling</a:t>
            </a:r>
            <a:r>
              <a:rPr lang="en-US" sz="1400" dirty="0">
                <a:solidFill>
                  <a:srgbClr val="1B2130"/>
                </a:solidFill>
                <a:latin typeface="Arial" pitchFamily="34" charset="0"/>
                <a:ea typeface="Arial" pitchFamily="34" charset="-122"/>
                <a:cs typeface="Arial" pitchFamily="34" charset="-120"/>
              </a:rPr>
              <a:t>: 314 and 415 both give 11, so equal hashes trigger a character-by-character check before reporting.</a:t>
            </a:r>
            <a:endParaRPr lang="en-US" sz="1400" dirty="0"/>
          </a:p>
        </p:txBody>
      </p:sp>
      <p:sp>
        <p:nvSpPr>
          <p:cNvPr id="15" name="Text 13"/>
          <p:cNvSpPr/>
          <p:nvPr/>
        </p:nvSpPr>
        <p:spPr>
          <a:xfrm>
            <a:off x="812800" y="6238280"/>
            <a:ext cx="17080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25CS2103E · 10 / 13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130"/>
                </a:solidFill>
                <a:latin typeface="Arial" pitchFamily="34" charset="0"/>
                <a:ea typeface="Arial" pitchFamily="34" charset="-122"/>
                <a:cs typeface="Arial" pitchFamily="34" charset="-120"/>
              </a:rPr>
              <a:t>Comparative Asymptotic Analysis &amp; Space</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244600"/>
          <a:ext cx="10553700" cy="2743200"/>
        </p:xfrm>
        <a:graphic>
          <a:graphicData uri="http://schemas.openxmlformats.org/drawingml/2006/table">
            <a:tbl>
              <a:tblPr/>
              <a:tblGrid>
                <a:gridCol w="2110740"/>
                <a:gridCol w="2110740"/>
                <a:gridCol w="2110740"/>
                <a:gridCol w="2110740"/>
                <a:gridCol w="2110740"/>
              </a:tblGrid>
              <a:tr h="457200">
                <a:tc>
                  <a:txBody>
                    <a:bodyPr/>
                    <a:lstStyle/>
                    <a:p>
                      <a:pPr indent="0" marL="0">
                        <a:lnSpc>
                          <a:spcPts val="2100"/>
                        </a:lnSpc>
                        <a:buNone/>
                      </a:pPr>
                      <a:r>
                        <a:rPr lang="en-US" sz="1500" b="1" dirty="0">
                          <a:solidFill>
                            <a:srgbClr val="F2EFE8"/>
                          </a:solidFill>
                          <a:latin typeface="Arial" pitchFamily="34" charset="0"/>
                          <a:ea typeface="Arial" pitchFamily="34" charset="-122"/>
                          <a:cs typeface="Arial" pitchFamily="34" charset="-120"/>
                        </a:rPr>
                        <a:t>Algorithm</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2100"/>
                        </a:lnSpc>
                        <a:buNone/>
                      </a:pPr>
                      <a:r>
                        <a:rPr lang="en-US" sz="1500" b="1" dirty="0">
                          <a:solidFill>
                            <a:srgbClr val="F2EFE8"/>
                          </a:solidFill>
                          <a:latin typeface="Arial" pitchFamily="34" charset="0"/>
                          <a:ea typeface="Arial" pitchFamily="34" charset="-122"/>
                          <a:cs typeface="Arial" pitchFamily="34" charset="-120"/>
                        </a:rPr>
                        <a:t>Preprocessing</a:t>
                      </a:r>
                      <a:endParaRPr lang="en-US" sz="1500" dirty="0">
                        <a:latin typeface="Arial" charset="0"/>
                        <a:ea typeface="Arial" charset="0"/>
                        <a:cs typeface="Arial" charset="0"/>
                      </a:endParaRPr>
                    </a:p>
                  </a:txBody>
                  <a:tcPr marL="88900" marR="88900" marT="88900" marB="889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2100"/>
                        </a:lnSpc>
                        <a:buNone/>
                      </a:pPr>
                      <a:r>
                        <a:rPr lang="en-US" sz="1500" b="1" dirty="0">
                          <a:solidFill>
                            <a:srgbClr val="F2EFE8"/>
                          </a:solidFill>
                          <a:latin typeface="Arial" pitchFamily="34" charset="0"/>
                          <a:ea typeface="Arial" pitchFamily="34" charset="-122"/>
                          <a:cs typeface="Arial" pitchFamily="34" charset="-120"/>
                        </a:rPr>
                        <a:t>Best case</a:t>
                      </a:r>
                      <a:endParaRPr lang="en-US" sz="1500" dirty="0">
                        <a:latin typeface="Arial" charset="0"/>
                        <a:ea typeface="Arial" charset="0"/>
                        <a:cs typeface="Arial" charset="0"/>
                      </a:endParaRPr>
                    </a:p>
                  </a:txBody>
                  <a:tcPr marL="88900" marR="88900" marT="88900" marB="889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2100"/>
                        </a:lnSpc>
                        <a:buNone/>
                      </a:pPr>
                      <a:r>
                        <a:rPr lang="en-US" sz="1500" b="1" dirty="0">
                          <a:solidFill>
                            <a:srgbClr val="F2EFE8"/>
                          </a:solidFill>
                          <a:latin typeface="Arial" pitchFamily="34" charset="0"/>
                          <a:ea typeface="Arial" pitchFamily="34" charset="-122"/>
                          <a:cs typeface="Arial" pitchFamily="34" charset="-120"/>
                        </a:rPr>
                        <a:t>Worst case</a:t>
                      </a:r>
                      <a:endParaRPr lang="en-US" sz="1500" dirty="0">
                        <a:latin typeface="Arial" charset="0"/>
                        <a:ea typeface="Arial" charset="0"/>
                        <a:cs typeface="Arial" charset="0"/>
                      </a:endParaRPr>
                    </a:p>
                  </a:txBody>
                  <a:tcPr marL="88900" marR="88900" marT="88900" marB="889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2100"/>
                        </a:lnSpc>
                        <a:buNone/>
                      </a:pPr>
                      <a:r>
                        <a:rPr lang="en-US" sz="1500" b="1" dirty="0">
                          <a:solidFill>
                            <a:srgbClr val="F2EFE8"/>
                          </a:solidFill>
                          <a:latin typeface="Arial" pitchFamily="34" charset="0"/>
                          <a:ea typeface="Arial" pitchFamily="34" charset="-122"/>
                          <a:cs typeface="Arial" pitchFamily="34" charset="-120"/>
                        </a:rPr>
                        <a:t>Auxiliary space</a:t>
                      </a:r>
                      <a:endParaRPr lang="en-US" sz="1500" dirty="0">
                        <a:latin typeface="Arial" charset="0"/>
                        <a:ea typeface="Arial" charset="0"/>
                        <a:cs typeface="Arial" charset="0"/>
                      </a:endParaRPr>
                    </a:p>
                  </a:txBody>
                  <a:tcPr marL="88900" marR="88900" marT="88900" marB="889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457200">
                <a:tc>
                  <a:txBody>
                    <a:bodyPr/>
                    <a:lstStyle/>
                    <a:p>
                      <a:pPr indent="0" marL="0">
                        <a:lnSpc>
                          <a:spcPts val="2100"/>
                        </a:lnSpc>
                        <a:buNone/>
                      </a:pPr>
                      <a:r>
                        <a:rPr lang="en-US" sz="1500" dirty="0">
                          <a:solidFill>
                            <a:srgbClr val="1B2130"/>
                          </a:solidFill>
                          <a:latin typeface="Arial" pitchFamily="34" charset="0"/>
                          <a:ea typeface="Arial" pitchFamily="34" charset="-122"/>
                          <a:cs typeface="Arial" pitchFamily="34" charset="-120"/>
                        </a:rPr>
                        <a:t>Naive</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B2130"/>
                          </a:solidFill>
                          <a:latin typeface="Arial" pitchFamily="34" charset="0"/>
                          <a:ea typeface="Arial" pitchFamily="34" charset="-122"/>
                          <a:cs typeface="Arial" pitchFamily="34" charset="-120"/>
                        </a:rPr>
                        <a:t>None</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B2130"/>
                          </a:solidFill>
                          <a:latin typeface="Arial" pitchFamily="34" charset="0"/>
                          <a:ea typeface="Arial" pitchFamily="34" charset="-122"/>
                          <a:cs typeface="Arial" pitchFamily="34" charset="-120"/>
                        </a:rPr>
                        <a:t>O(n)</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B23A35"/>
                          </a:solidFill>
                          <a:latin typeface="Arial" pitchFamily="34" charset="0"/>
                          <a:ea typeface="Arial" pitchFamily="34" charset="-122"/>
                          <a:cs typeface="Arial" pitchFamily="34" charset="-120"/>
                        </a:rPr>
                        <a:t>O(n·m)</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B2130"/>
                          </a:solidFill>
                          <a:latin typeface="Arial" pitchFamily="34" charset="0"/>
                          <a:ea typeface="Arial" pitchFamily="34" charset="-122"/>
                          <a:cs typeface="Arial" pitchFamily="34" charset="-120"/>
                        </a:rPr>
                        <a:t>O(1)</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457200">
                <a:tc>
                  <a:txBody>
                    <a:bodyPr/>
                    <a:lstStyle/>
                    <a:p>
                      <a:pPr indent="0" marL="0">
                        <a:lnSpc>
                          <a:spcPts val="2100"/>
                        </a:lnSpc>
                        <a:buNone/>
                      </a:pPr>
                      <a:r>
                        <a:rPr lang="en-US" sz="1500" dirty="0">
                          <a:solidFill>
                            <a:srgbClr val="1B2130"/>
                          </a:solidFill>
                          <a:latin typeface="Arial" pitchFamily="34" charset="0"/>
                          <a:ea typeface="Arial" pitchFamily="34" charset="-122"/>
                          <a:cs typeface="Arial" pitchFamily="34" charset="-120"/>
                        </a:rPr>
                        <a:t>Z-Algorithm</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B2130"/>
                          </a:solidFill>
                          <a:latin typeface="Arial" pitchFamily="34" charset="0"/>
                          <a:ea typeface="Arial" pitchFamily="34" charset="-122"/>
                          <a:cs typeface="Arial" pitchFamily="34" charset="-120"/>
                        </a:rPr>
                        <a:t>O(n+m)</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B2130"/>
                          </a:solidFill>
                          <a:latin typeface="Arial" pitchFamily="34" charset="0"/>
                          <a:ea typeface="Arial" pitchFamily="34" charset="-122"/>
                          <a:cs typeface="Arial" pitchFamily="34" charset="-120"/>
                        </a:rPr>
                        <a:t>O(n+m)</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7808F"/>
                          </a:solidFill>
                          <a:latin typeface="Arial" pitchFamily="34" charset="0"/>
                          <a:ea typeface="Arial" pitchFamily="34" charset="-122"/>
                          <a:cs typeface="Arial" pitchFamily="34" charset="-120"/>
                        </a:rPr>
                        <a:t>O(n+m)</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B2130"/>
                          </a:solidFill>
                          <a:latin typeface="Arial" pitchFamily="34" charset="0"/>
                          <a:ea typeface="Arial" pitchFamily="34" charset="-122"/>
                          <a:cs typeface="Arial" pitchFamily="34" charset="-120"/>
                        </a:rPr>
                        <a:t>O(n+m)</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457200">
                <a:tc>
                  <a:txBody>
                    <a:bodyPr/>
                    <a:lstStyle/>
                    <a:p>
                      <a:pPr indent="0" marL="0">
                        <a:lnSpc>
                          <a:spcPts val="2100"/>
                        </a:lnSpc>
                        <a:buNone/>
                      </a:pPr>
                      <a:r>
                        <a:rPr lang="en-US" sz="1500" dirty="0">
                          <a:solidFill>
                            <a:srgbClr val="1B2130"/>
                          </a:solidFill>
                          <a:latin typeface="Arial" pitchFamily="34" charset="0"/>
                          <a:ea typeface="Arial" pitchFamily="34" charset="-122"/>
                          <a:cs typeface="Arial" pitchFamily="34" charset="-120"/>
                        </a:rPr>
                        <a:t>KMP</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B2130"/>
                          </a:solidFill>
                          <a:latin typeface="Arial" pitchFamily="34" charset="0"/>
                          <a:ea typeface="Arial" pitchFamily="34" charset="-122"/>
                          <a:cs typeface="Arial" pitchFamily="34" charset="-120"/>
                        </a:rPr>
                        <a:t>O(m)</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B2130"/>
                          </a:solidFill>
                          <a:latin typeface="Arial" pitchFamily="34" charset="0"/>
                          <a:ea typeface="Arial" pitchFamily="34" charset="-122"/>
                          <a:cs typeface="Arial" pitchFamily="34" charset="-120"/>
                        </a:rPr>
                        <a:t>O(n+m)</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7808F"/>
                          </a:solidFill>
                          <a:latin typeface="Arial" pitchFamily="34" charset="0"/>
                          <a:ea typeface="Arial" pitchFamily="34" charset="-122"/>
                          <a:cs typeface="Arial" pitchFamily="34" charset="-120"/>
                        </a:rPr>
                        <a:t>O(n+m)</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B2130"/>
                          </a:solidFill>
                          <a:latin typeface="Arial" pitchFamily="34" charset="0"/>
                          <a:ea typeface="Arial" pitchFamily="34" charset="-122"/>
                          <a:cs typeface="Arial" pitchFamily="34" charset="-120"/>
                        </a:rPr>
                        <a:t>O(m)</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457200">
                <a:tc>
                  <a:txBody>
                    <a:bodyPr/>
                    <a:lstStyle/>
                    <a:p>
                      <a:pPr indent="0" marL="0">
                        <a:lnSpc>
                          <a:spcPts val="2100"/>
                        </a:lnSpc>
                        <a:buNone/>
                      </a:pPr>
                      <a:r>
                        <a:rPr lang="en-US" sz="1500" dirty="0">
                          <a:solidFill>
                            <a:srgbClr val="1B2130"/>
                          </a:solidFill>
                          <a:latin typeface="Arial" pitchFamily="34" charset="0"/>
                          <a:ea typeface="Arial" pitchFamily="34" charset="-122"/>
                          <a:cs typeface="Arial" pitchFamily="34" charset="-120"/>
                        </a:rPr>
                        <a:t>Boyer-Moore</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B2130"/>
                          </a:solidFill>
                          <a:latin typeface="Arial" pitchFamily="34" charset="0"/>
                          <a:ea typeface="Arial" pitchFamily="34" charset="-122"/>
                          <a:cs typeface="Arial" pitchFamily="34" charset="-120"/>
                        </a:rPr>
                        <a:t>O(m+σ)</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B2130"/>
                          </a:solidFill>
                          <a:latin typeface="Arial" pitchFamily="34" charset="0"/>
                          <a:ea typeface="Arial" pitchFamily="34" charset="-122"/>
                          <a:cs typeface="Arial" pitchFamily="34" charset="-120"/>
                        </a:rPr>
                        <a:t>O(n/m)</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B23A35"/>
                          </a:solidFill>
                          <a:latin typeface="Arial" pitchFamily="34" charset="0"/>
                          <a:ea typeface="Arial" pitchFamily="34" charset="-122"/>
                          <a:cs typeface="Arial" pitchFamily="34" charset="-120"/>
                        </a:rPr>
                        <a:t>O(n·m)</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B2130"/>
                          </a:solidFill>
                          <a:latin typeface="Arial" pitchFamily="34" charset="0"/>
                          <a:ea typeface="Arial" pitchFamily="34" charset="-122"/>
                          <a:cs typeface="Arial" pitchFamily="34" charset="-120"/>
                        </a:rPr>
                        <a:t>O(σ)</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457200">
                <a:tc>
                  <a:txBody>
                    <a:bodyPr/>
                    <a:lstStyle/>
                    <a:p>
                      <a:pPr indent="0" marL="0">
                        <a:lnSpc>
                          <a:spcPts val="2100"/>
                        </a:lnSpc>
                        <a:buNone/>
                      </a:pPr>
                      <a:r>
                        <a:rPr lang="en-US" sz="1500" dirty="0">
                          <a:solidFill>
                            <a:srgbClr val="1B2130"/>
                          </a:solidFill>
                          <a:latin typeface="Arial" pitchFamily="34" charset="0"/>
                          <a:ea typeface="Arial" pitchFamily="34" charset="-122"/>
                          <a:cs typeface="Arial" pitchFamily="34" charset="-120"/>
                        </a:rPr>
                        <a:t>Rabin-Karp</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B2130"/>
                          </a:solidFill>
                          <a:latin typeface="Arial" pitchFamily="34" charset="0"/>
                          <a:ea typeface="Arial" pitchFamily="34" charset="-122"/>
                          <a:cs typeface="Arial" pitchFamily="34" charset="-120"/>
                        </a:rPr>
                        <a:t>O(m)</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B2130"/>
                          </a:solidFill>
                          <a:latin typeface="Arial" pitchFamily="34" charset="0"/>
                          <a:ea typeface="Arial" pitchFamily="34" charset="-122"/>
                          <a:cs typeface="Arial" pitchFamily="34" charset="-120"/>
                        </a:rPr>
                        <a:t>O(n+m)</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B23A35"/>
                          </a:solidFill>
                          <a:latin typeface="Arial" pitchFamily="34" charset="0"/>
                          <a:ea typeface="Arial" pitchFamily="34" charset="-122"/>
                          <a:cs typeface="Arial" pitchFamily="34" charset="-120"/>
                        </a:rPr>
                        <a:t>O(n·m)</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B2130"/>
                          </a:solidFill>
                          <a:latin typeface="Arial" pitchFamily="34" charset="0"/>
                          <a:ea typeface="Arial" pitchFamily="34" charset="-122"/>
                          <a:cs typeface="Arial" pitchFamily="34" charset="-120"/>
                        </a:rPr>
                        <a:t>O(1)</a:t>
                      </a:r>
                      <a:endParaRPr lang="en-US" sz="1500" dirty="0">
                        <a:latin typeface="Arial" charset="0"/>
                        <a:ea typeface="Arial" charset="0"/>
                        <a:cs typeface="Arial" charset="0"/>
                      </a:endParaRPr>
                    </a:p>
                  </a:txBody>
                  <a:tcPr marL="88900" marR="889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4" name="Text 1"/>
          <p:cNvSpPr/>
          <p:nvPr/>
        </p:nvSpPr>
        <p:spPr>
          <a:xfrm>
            <a:off x="812800" y="4191000"/>
            <a:ext cx="108833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472"/>
                </a:solidFill>
                <a:latin typeface="Arial" pitchFamily="34" charset="0"/>
                <a:ea typeface="Arial" pitchFamily="34" charset="-122"/>
                <a:cs typeface="Arial" pitchFamily="34" charset="-120"/>
              </a:rPr>
              <a:t>σ = alphabet size. Only Z and KMP guarantee linear time; Boyer-Moore (bad-char only) wins on average with large alphabets; Rabin-Karp's worst case needs many hash collisions.</a:t>
            </a:r>
            <a:endParaRPr lang="en-US" sz="1400" dirty="0"/>
          </a:p>
        </p:txBody>
      </p:sp>
      <p:sp>
        <p:nvSpPr>
          <p:cNvPr id="5" name="Text 2"/>
          <p:cNvSpPr/>
          <p:nvPr/>
        </p:nvSpPr>
        <p:spPr>
          <a:xfrm>
            <a:off x="812800" y="6238280"/>
            <a:ext cx="1694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25CS2103E · 11 / 13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1A24"/>
        </a:solidFill>
      </p:bgPr>
    </p:bg>
    <p:spTree>
      <p:nvGrpSpPr>
        <p:cNvPr id="1" name=""/>
        <p:cNvGrpSpPr/>
        <p:nvPr/>
      </p:nvGrpSpPr>
      <p:grpSpPr>
        <a:xfrm>
          <a:off x="0" y="0"/>
          <a:ext cx="0" cy="0"/>
          <a:chOff x="0" y="0"/>
          <a:chExt cx="0" cy="0"/>
        </a:xfrm>
      </p:grpSpPr>
      <p:sp>
        <p:nvSpPr>
          <p:cNvPr id="2" name="Text 0"/>
          <p:cNvSpPr/>
          <p:nvPr/>
        </p:nvSpPr>
        <p:spPr>
          <a:xfrm>
            <a:off x="812800" y="6096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8776F"/>
                </a:solidFill>
                <a:latin typeface="Arial" pitchFamily="34" charset="0"/>
                <a:ea typeface="Arial" pitchFamily="34" charset="-122"/>
                <a:cs typeface="Arial" pitchFamily="34" charset="-120"/>
              </a:rPr>
              <a:t>LIVE PROOF · WORST-CASE DEMO BUTTON</a:t>
            </a:r>
            <a:endParaRPr lang="en-US" sz="1300" dirty="0"/>
          </a:p>
        </p:txBody>
      </p:sp>
      <p:sp>
        <p:nvSpPr>
          <p:cNvPr id="3" name="Text 1"/>
          <p:cNvSpPr/>
          <p:nvPr>
            <p:ph type="title"/>
          </p:nvPr>
        </p:nvSpPr>
        <p:spPr>
          <a:xfrm>
            <a:off x="812800" y="103118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EFE8"/>
                </a:solidFill>
                <a:latin typeface="Arial" pitchFamily="34" charset="0"/>
                <a:ea typeface="Arial" pitchFamily="34" charset="-122"/>
                <a:cs typeface="Arial" pitchFamily="34" charset="-120"/>
              </a:rPr>
              <a:t>Empirical Benchmarking on 4,000-Character Inputs</a:t>
            </a:r>
            <a:endParaRPr lang="en-US" sz="3000" dirty="0"/>
          </a:p>
        </p:txBody>
      </p:sp>
      <p:sp>
        <p:nvSpPr>
          <p:cNvPr id="4" name="Shape 2"/>
          <p:cNvSpPr/>
          <p:nvPr/>
        </p:nvSpPr>
        <p:spPr>
          <a:xfrm>
            <a:off x="812800" y="1640780"/>
            <a:ext cx="5194300" cy="1922363"/>
          </a:xfrm>
          <a:prstGeom prst="roundRect">
            <a:avLst>
              <a:gd name="adj" fmla="val 5285"/>
            </a:avLst>
          </a:prstGeom>
          <a:solidFill>
            <a:srgbClr val="202838"/>
          </a:solidFill>
          <a:ln/>
        </p:spPr>
      </p:sp>
      <p:sp>
        <p:nvSpPr>
          <p:cNvPr id="5" name="Text 3"/>
          <p:cNvSpPr/>
          <p:nvPr/>
        </p:nvSpPr>
        <p:spPr>
          <a:xfrm>
            <a:off x="990600" y="1818580"/>
            <a:ext cx="498386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8776F"/>
                </a:solidFill>
                <a:latin typeface="Arial" pitchFamily="34" charset="0"/>
                <a:ea typeface="Arial" pitchFamily="34" charset="-122"/>
                <a:cs typeface="Arial" pitchFamily="34" charset="-120"/>
              </a:rPr>
              <a:t>Degrades: Naive</a:t>
            </a:r>
            <a:endParaRPr lang="en-US" sz="1700" dirty="0"/>
          </a:p>
        </p:txBody>
      </p:sp>
      <p:sp>
        <p:nvSpPr>
          <p:cNvPr id="6" name="Text 4"/>
          <p:cNvSpPr/>
          <p:nvPr/>
        </p:nvSpPr>
        <p:spPr>
          <a:xfrm>
            <a:off x="990600" y="2141141"/>
            <a:ext cx="4983861" cy="126960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Arial" pitchFamily="34" charset="0"/>
                <a:ea typeface="Arial" pitchFamily="34" charset="-122"/>
                <a:cs typeface="Arial" pitchFamily="34" charset="-120"/>
              </a:rPr>
              <a:t>Highly repetitive text forces near-m comparisons at every shift.</a:t>
            </a:r>
            <a:endParaRPr lang="en-US" sz="1400" dirty="0"/>
          </a:p>
          <a:p>
            <a:pPr algn="l" indent="0" marL="0">
              <a:lnSpc>
                <a:spcPts val="1960"/>
              </a:lnSpc>
              <a:buNone/>
            </a:pPr>
            <a:r>
              <a:rPr lang="en-US" sz="1400" dirty="0">
                <a:solidFill>
                  <a:srgbClr val="F2EFE8"/>
                </a:solidFill>
                <a:latin typeface="Arial" pitchFamily="34" charset="0"/>
                <a:ea typeface="Arial" pitchFamily="34" charset="-122"/>
                <a:cs typeface="Arial" pitchFamily="34" charset="-120"/>
              </a:rPr>
              <a:t>Bound: (n − m + 1)·m. For n = 4,000, m = 1,000: ≈ 3.0 × 10⁶ comparisons.</a:t>
            </a:r>
            <a:endParaRPr lang="en-US" sz="1400" dirty="0"/>
          </a:p>
          <a:p>
            <a:pPr algn="l" indent="0" marL="0">
              <a:lnSpc>
                <a:spcPts val="1960"/>
              </a:lnSpc>
              <a:buNone/>
            </a:pPr>
            <a:r>
              <a:rPr lang="en-US" sz="1400" dirty="0">
                <a:solidFill>
                  <a:srgbClr val="F2EFE8"/>
                </a:solidFill>
                <a:latin typeface="Arial" pitchFamily="34" charset="0"/>
                <a:ea typeface="Arial" pitchFamily="34" charset="-122"/>
                <a:cs typeface="Arial" pitchFamily="34" charset="-120"/>
              </a:rPr>
              <a:t>Measured: </a:t>
            </a:r>
            <a:r>
              <a:rPr lang="en-US" sz="1400" b="1" dirty="0">
                <a:solidFill>
                  <a:srgbClr val="F2EFE8"/>
                </a:solidFill>
                <a:latin typeface="Arial" pitchFamily="34" charset="0"/>
                <a:ea typeface="Arial" pitchFamily="34" charset="-122"/>
                <a:cs typeface="Arial" pitchFamily="34" charset="-120"/>
              </a:rPr>
              <a:t>[__ ms]</a:t>
            </a:r>
            <a:endParaRPr lang="en-US" sz="1400" dirty="0"/>
          </a:p>
        </p:txBody>
      </p:sp>
      <p:sp>
        <p:nvSpPr>
          <p:cNvPr id="7" name="Shape 5"/>
          <p:cNvSpPr/>
          <p:nvPr/>
        </p:nvSpPr>
        <p:spPr>
          <a:xfrm>
            <a:off x="6184900" y="1640780"/>
            <a:ext cx="5194300" cy="1922363"/>
          </a:xfrm>
          <a:prstGeom prst="roundRect">
            <a:avLst>
              <a:gd name="adj" fmla="val 5285"/>
            </a:avLst>
          </a:prstGeom>
          <a:solidFill>
            <a:srgbClr val="202838"/>
          </a:solidFill>
          <a:ln/>
        </p:spPr>
      </p:sp>
      <p:sp>
        <p:nvSpPr>
          <p:cNvPr id="8" name="Text 6"/>
          <p:cNvSpPr/>
          <p:nvPr/>
        </p:nvSpPr>
        <p:spPr>
          <a:xfrm>
            <a:off x="6362700" y="1818580"/>
            <a:ext cx="498386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7FD0DC"/>
                </a:solidFill>
                <a:latin typeface="Arial" pitchFamily="34" charset="0"/>
                <a:ea typeface="Arial" pitchFamily="34" charset="-122"/>
                <a:cs typeface="Arial" pitchFamily="34" charset="-120"/>
              </a:rPr>
              <a:t>Resilient: Z-Algorithm &amp; KMP</a:t>
            </a:r>
            <a:endParaRPr lang="en-US" sz="1700" dirty="0"/>
          </a:p>
        </p:txBody>
      </p:sp>
      <p:sp>
        <p:nvSpPr>
          <p:cNvPr id="9" name="Text 7"/>
          <p:cNvSpPr/>
          <p:nvPr/>
        </p:nvSpPr>
        <p:spPr>
          <a:xfrm>
            <a:off x="6362700" y="2141141"/>
            <a:ext cx="4983861"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Arial" pitchFamily="34" charset="0"/>
                <a:ea typeface="Arial" pitchFamily="34" charset="-122"/>
                <a:cs typeface="Arial" pitchFamily="34" charset="-120"/>
              </a:rPr>
              <a:t>Same input, work stays proportional to n + m.</a:t>
            </a:r>
            <a:endParaRPr lang="en-US" sz="1400" dirty="0"/>
          </a:p>
          <a:p>
            <a:pPr algn="l" indent="0" marL="0">
              <a:lnSpc>
                <a:spcPts val="1960"/>
              </a:lnSpc>
              <a:buNone/>
            </a:pPr>
            <a:r>
              <a:rPr lang="en-US" sz="1400" dirty="0">
                <a:solidFill>
                  <a:srgbClr val="F2EFE8"/>
                </a:solidFill>
                <a:latin typeface="Arial" pitchFamily="34" charset="0"/>
                <a:ea typeface="Arial" pitchFamily="34" charset="-122"/>
                <a:cs typeface="Arial" pitchFamily="34" charset="-120"/>
              </a:rPr>
              <a:t>Bound: ≈ 5 × 10³ steps for the same n and m.</a:t>
            </a:r>
            <a:endParaRPr lang="en-US" sz="1400" dirty="0"/>
          </a:p>
          <a:p>
            <a:pPr algn="l" indent="0" marL="0">
              <a:lnSpc>
                <a:spcPts val="1960"/>
              </a:lnSpc>
              <a:buNone/>
            </a:pPr>
            <a:r>
              <a:rPr lang="en-US" sz="1400" dirty="0">
                <a:solidFill>
                  <a:srgbClr val="F2EFE8"/>
                </a:solidFill>
                <a:latin typeface="Arial" pitchFamily="34" charset="0"/>
                <a:ea typeface="Arial" pitchFamily="34" charset="-122"/>
                <a:cs typeface="Arial" pitchFamily="34" charset="-120"/>
              </a:rPr>
              <a:t>Measured Z: </a:t>
            </a:r>
            <a:r>
              <a:rPr lang="en-US" sz="1400" b="1" dirty="0">
                <a:solidFill>
                  <a:srgbClr val="F2EFE8"/>
                </a:solidFill>
                <a:latin typeface="Arial" pitchFamily="34" charset="0"/>
                <a:ea typeface="Arial" pitchFamily="34" charset="-122"/>
                <a:cs typeface="Arial" pitchFamily="34" charset="-120"/>
              </a:rPr>
              <a:t>[__ ms]</a:t>
            </a:r>
            <a:r>
              <a:rPr lang="en-US" sz="1400" dirty="0">
                <a:solidFill>
                  <a:srgbClr val="F2EFE8"/>
                </a:solidFill>
                <a:latin typeface="Arial" pitchFamily="34" charset="0"/>
                <a:ea typeface="Arial" pitchFamily="34" charset="-122"/>
                <a:cs typeface="Arial" pitchFamily="34" charset="-120"/>
              </a:rPr>
              <a:t> · KMP: </a:t>
            </a:r>
            <a:r>
              <a:rPr lang="en-US" sz="1400" b="1" dirty="0">
                <a:solidFill>
                  <a:srgbClr val="F2EFE8"/>
                </a:solidFill>
                <a:latin typeface="Arial" pitchFamily="34" charset="0"/>
                <a:ea typeface="Arial" pitchFamily="34" charset="-122"/>
                <a:cs typeface="Arial" pitchFamily="34" charset="-120"/>
              </a:rPr>
              <a:t>[__ ms]</a:t>
            </a:r>
            <a:endParaRPr lang="en-US" sz="1400" dirty="0"/>
          </a:p>
        </p:txBody>
      </p:sp>
      <p:sp>
        <p:nvSpPr>
          <p:cNvPr id="10" name="Text 8"/>
          <p:cNvSpPr/>
          <p:nvPr/>
        </p:nvSpPr>
        <p:spPr>
          <a:xfrm>
            <a:off x="812800" y="3753644"/>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EFE8"/>
                </a:solidFill>
                <a:latin typeface="Arial" pitchFamily="34" charset="0"/>
                <a:ea typeface="Arial" pitchFamily="34" charset="-122"/>
                <a:cs typeface="Arial" pitchFamily="34" charset="-120"/>
              </a:rPr>
              <a:t>Expected gap ≈ n·m / (n+m) = 1,000 × 4,000 / 5,000 = </a:t>
            </a:r>
            <a:r>
              <a:rPr lang="en-US" sz="1500" b="1" dirty="0">
                <a:solidFill>
                  <a:srgbClr val="E8776F"/>
                </a:solidFill>
                <a:latin typeface="Arial" pitchFamily="34" charset="0"/>
                <a:ea typeface="Arial" pitchFamily="34" charset="-122"/>
                <a:cs typeface="Arial" pitchFamily="34" charset="-120"/>
              </a:rPr>
              <a:t>800×</a:t>
            </a:r>
            <a:r>
              <a:rPr lang="en-US" sz="1500" dirty="0">
                <a:solidFill>
                  <a:srgbClr val="F2EFE8"/>
                </a:solidFill>
                <a:latin typeface="Arial" pitchFamily="34" charset="0"/>
                <a:ea typeface="Arial" pitchFamily="34" charset="-122"/>
                <a:cs typeface="Arial" pitchFamily="34" charset="-120"/>
              </a:rPr>
              <a:t> fewer steps for linear algorithms. Wall-clock ratios will be smaller because of JVM warm-up and constant factors.</a:t>
            </a:r>
            <a:endParaRPr lang="en-US" sz="1500" dirty="0"/>
          </a:p>
        </p:txBody>
      </p:sp>
      <p:sp>
        <p:nvSpPr>
          <p:cNvPr id="11" name="Text 9"/>
          <p:cNvSpPr/>
          <p:nvPr/>
        </p:nvSpPr>
        <p:spPr>
          <a:xfrm>
            <a:off x="812800" y="4477544"/>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EB6C4"/>
                </a:solidFill>
                <a:latin typeface="Arial" pitchFamily="34" charset="0"/>
                <a:ea typeface="Arial" pitchFamily="34" charset="-122"/>
                <a:cs typeface="Arial" pitchFamily="34" charset="-120"/>
              </a:rPr>
              <a:t>Click “Worst-case demo” in the GUI and read pane 1. Replace the [__] values with your measured times.</a:t>
            </a:r>
            <a:endParaRPr lang="en-US" sz="1300" dirty="0"/>
          </a:p>
        </p:txBody>
      </p:sp>
      <p:sp>
        <p:nvSpPr>
          <p:cNvPr id="12" name="Text 10"/>
          <p:cNvSpPr/>
          <p:nvPr/>
        </p:nvSpPr>
        <p:spPr>
          <a:xfrm>
            <a:off x="812800" y="6238280"/>
            <a:ext cx="17080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4"/>
                </a:solidFill>
                <a:latin typeface="Arial" pitchFamily="34" charset="0"/>
                <a:ea typeface="Arial" pitchFamily="34" charset="-122"/>
                <a:cs typeface="Arial" pitchFamily="34" charset="-120"/>
              </a:rPr>
              <a:t>25CS2103E · 12 / 13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130"/>
                </a:solidFill>
                <a:latin typeface="Arial" pitchFamily="34" charset="0"/>
                <a:ea typeface="Arial" pitchFamily="34" charset="-122"/>
                <a:cs typeface="Arial" pitchFamily="34" charset="-120"/>
              </a:rPr>
              <a:t>Conclusion, Learnings &amp; Open Viva Defense</a:t>
            </a:r>
            <a:endParaRPr lang="en-US" sz="3000" dirty="0"/>
          </a:p>
        </p:txBody>
      </p:sp>
      <p:sp>
        <p:nvSpPr>
          <p:cNvPr id="3" name="Shape 1"/>
          <p:cNvSpPr/>
          <p:nvPr/>
        </p:nvSpPr>
        <p:spPr>
          <a:xfrm>
            <a:off x="815975" y="1222375"/>
            <a:ext cx="3397250" cy="1869281"/>
          </a:xfrm>
          <a:prstGeom prst="roundRect">
            <a:avLst>
              <a:gd name="adj" fmla="val 5265"/>
            </a:avLst>
          </a:prstGeom>
          <a:solidFill>
            <a:srgbClr val="FFFFFF"/>
          </a:solidFill>
          <a:ln w="6350">
            <a:solidFill>
              <a:srgbClr val="DCD8CF"/>
            </a:solidFill>
            <a:prstDash val="solid"/>
          </a:ln>
        </p:spPr>
      </p:sp>
      <p:sp>
        <p:nvSpPr>
          <p:cNvPr id="4" name="Text 2"/>
          <p:cNvSpPr/>
          <p:nvPr/>
        </p:nvSpPr>
        <p:spPr>
          <a:xfrm>
            <a:off x="996950" y="1403350"/>
            <a:ext cx="312635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23A35"/>
                </a:solidFill>
                <a:latin typeface="Arial" pitchFamily="34" charset="0"/>
                <a:ea typeface="Arial" pitchFamily="34" charset="-122"/>
                <a:cs typeface="Arial" pitchFamily="34" charset="-120"/>
              </a:rPr>
              <a:t>Findings</a:t>
            </a:r>
            <a:endParaRPr lang="en-US" sz="1600" dirty="0"/>
          </a:p>
        </p:txBody>
      </p:sp>
      <p:sp>
        <p:nvSpPr>
          <p:cNvPr id="5" name="Text 3"/>
          <p:cNvSpPr/>
          <p:nvPr/>
        </p:nvSpPr>
        <p:spPr>
          <a:xfrm>
            <a:off x="996950" y="1710630"/>
            <a:ext cx="3126359" cy="1225451"/>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B2130"/>
                </a:solidFill>
                <a:latin typeface="Arial" pitchFamily="34" charset="0"/>
                <a:ea typeface="Arial" pitchFamily="34" charset="-122"/>
                <a:cs typeface="Arial" pitchFamily="34" charset="-120"/>
              </a:rPr>
              <a:t>Z and KMP guarantee O(n+m).</a:t>
            </a:r>
            <a:endParaRPr lang="en-US" sz="1350" dirty="0"/>
          </a:p>
          <a:p>
            <a:pPr algn="l" indent="0" marL="0">
              <a:lnSpc>
                <a:spcPts val="1890"/>
              </a:lnSpc>
              <a:buNone/>
            </a:pPr>
            <a:r>
              <a:rPr lang="en-US" sz="1350" dirty="0">
                <a:solidFill>
                  <a:srgbClr val="1B2130"/>
                </a:solidFill>
                <a:latin typeface="Arial" pitchFamily="34" charset="0"/>
                <a:ea typeface="Arial" pitchFamily="34" charset="-122"/>
                <a:cs typeface="Arial" pitchFamily="34" charset="-120"/>
              </a:rPr>
              <a:t>Boyer-Moore is sub-linear on average (best O(n/m)).</a:t>
            </a:r>
            <a:endParaRPr lang="en-US" sz="1350" dirty="0"/>
          </a:p>
          <a:p>
            <a:pPr algn="l" indent="0" marL="0">
              <a:lnSpc>
                <a:spcPts val="1890"/>
              </a:lnSpc>
              <a:buNone/>
            </a:pPr>
            <a:r>
              <a:rPr lang="en-US" sz="1350" dirty="0">
                <a:solidFill>
                  <a:srgbClr val="1B2130"/>
                </a:solidFill>
                <a:latin typeface="Arial" pitchFamily="34" charset="0"/>
                <a:ea typeface="Arial" pitchFamily="34" charset="-122"/>
                <a:cs typeface="Arial" pitchFamily="34" charset="-120"/>
              </a:rPr>
              <a:t>Naive and Rabin-Karp can reach O(n·m).</a:t>
            </a:r>
            <a:endParaRPr lang="en-US" sz="1350" dirty="0"/>
          </a:p>
        </p:txBody>
      </p:sp>
      <p:sp>
        <p:nvSpPr>
          <p:cNvPr id="6" name="Shape 4"/>
          <p:cNvSpPr/>
          <p:nvPr/>
        </p:nvSpPr>
        <p:spPr>
          <a:xfrm>
            <a:off x="4397375" y="1222375"/>
            <a:ext cx="3397250" cy="1869281"/>
          </a:xfrm>
          <a:prstGeom prst="roundRect">
            <a:avLst>
              <a:gd name="adj" fmla="val 5265"/>
            </a:avLst>
          </a:prstGeom>
          <a:solidFill>
            <a:srgbClr val="FFFFFF"/>
          </a:solidFill>
          <a:ln w="6350">
            <a:solidFill>
              <a:srgbClr val="DCD8CF"/>
            </a:solidFill>
            <a:prstDash val="solid"/>
          </a:ln>
        </p:spPr>
      </p:sp>
      <p:sp>
        <p:nvSpPr>
          <p:cNvPr id="7" name="Text 5"/>
          <p:cNvSpPr/>
          <p:nvPr/>
        </p:nvSpPr>
        <p:spPr>
          <a:xfrm>
            <a:off x="4578350" y="1403350"/>
            <a:ext cx="312635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23A35"/>
                </a:solidFill>
                <a:latin typeface="Arial" pitchFamily="34" charset="0"/>
                <a:ea typeface="Arial" pitchFamily="34" charset="-122"/>
                <a:cs typeface="Arial" pitchFamily="34" charset="-120"/>
              </a:rPr>
              <a:t>Learnings</a:t>
            </a:r>
            <a:endParaRPr lang="en-US" sz="1600" dirty="0"/>
          </a:p>
        </p:txBody>
      </p:sp>
      <p:sp>
        <p:nvSpPr>
          <p:cNvPr id="8" name="Text 6"/>
          <p:cNvSpPr/>
          <p:nvPr/>
        </p:nvSpPr>
        <p:spPr>
          <a:xfrm>
            <a:off x="4578350" y="1710630"/>
            <a:ext cx="3126359" cy="1225451"/>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B2130"/>
                </a:solidFill>
                <a:latin typeface="Arial" pitchFamily="34" charset="0"/>
                <a:ea typeface="Arial" pitchFamily="34" charset="-122"/>
                <a:cs typeface="Arial" pitchFamily="34" charset="-120"/>
              </a:rPr>
              <a:t>Amortized analysis (Z-box, KMP pointer).</a:t>
            </a:r>
            <a:endParaRPr lang="en-US" sz="1350" dirty="0"/>
          </a:p>
          <a:p>
            <a:pPr algn="l" indent="0" marL="0">
              <a:lnSpc>
                <a:spcPts val="1890"/>
              </a:lnSpc>
              <a:buNone/>
            </a:pPr>
            <a:r>
              <a:rPr lang="en-US" sz="1350" dirty="0">
                <a:solidFill>
                  <a:srgbClr val="1B2130"/>
                </a:solidFill>
                <a:latin typeface="Arial" pitchFamily="34" charset="0"/>
                <a:ea typeface="Arial" pitchFamily="34" charset="-122"/>
                <a:cs typeface="Arial" pitchFamily="34" charset="-120"/>
              </a:rPr>
              <a:t>Hand-built CustomArrayList.</a:t>
            </a:r>
            <a:endParaRPr lang="en-US" sz="1350" dirty="0"/>
          </a:p>
          <a:p>
            <a:pPr algn="l" indent="0" marL="0">
              <a:lnSpc>
                <a:spcPts val="1890"/>
              </a:lnSpc>
              <a:buNone/>
            </a:pPr>
            <a:r>
              <a:rPr lang="en-US" sz="1350" dirty="0">
                <a:solidFill>
                  <a:srgbClr val="1B2130"/>
                </a:solidFill>
                <a:latin typeface="Arial" pitchFamily="34" charset="0"/>
                <a:ea typeface="Arial" pitchFamily="34" charset="-122"/>
                <a:cs typeface="Arial" pitchFamily="34" charset="-120"/>
              </a:rPr>
              <a:t>Interface-driven design for fair benchmarks.</a:t>
            </a:r>
            <a:endParaRPr lang="en-US" sz="1350" dirty="0"/>
          </a:p>
        </p:txBody>
      </p:sp>
      <p:sp>
        <p:nvSpPr>
          <p:cNvPr id="9" name="Shape 7"/>
          <p:cNvSpPr/>
          <p:nvPr/>
        </p:nvSpPr>
        <p:spPr>
          <a:xfrm>
            <a:off x="7978775" y="1222375"/>
            <a:ext cx="3397250" cy="1869281"/>
          </a:xfrm>
          <a:prstGeom prst="roundRect">
            <a:avLst>
              <a:gd name="adj" fmla="val 5265"/>
            </a:avLst>
          </a:prstGeom>
          <a:solidFill>
            <a:srgbClr val="FFFFFF"/>
          </a:solidFill>
          <a:ln w="6350">
            <a:solidFill>
              <a:srgbClr val="DCD8CF"/>
            </a:solidFill>
            <a:prstDash val="solid"/>
          </a:ln>
        </p:spPr>
      </p:sp>
      <p:sp>
        <p:nvSpPr>
          <p:cNvPr id="10" name="Text 8"/>
          <p:cNvSpPr/>
          <p:nvPr/>
        </p:nvSpPr>
        <p:spPr>
          <a:xfrm>
            <a:off x="8159750" y="1403350"/>
            <a:ext cx="312635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23A35"/>
                </a:solidFill>
                <a:latin typeface="Arial" pitchFamily="34" charset="0"/>
                <a:ea typeface="Arial" pitchFamily="34" charset="-122"/>
                <a:cs typeface="Arial" pitchFamily="34" charset="-120"/>
              </a:rPr>
              <a:t>Future work</a:t>
            </a:r>
            <a:endParaRPr lang="en-US" sz="1600" dirty="0"/>
          </a:p>
        </p:txBody>
      </p:sp>
      <p:sp>
        <p:nvSpPr>
          <p:cNvPr id="11" name="Text 9"/>
          <p:cNvSpPr/>
          <p:nvPr/>
        </p:nvSpPr>
        <p:spPr>
          <a:xfrm>
            <a:off x="8159750" y="1710630"/>
            <a:ext cx="3126359" cy="74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B2130"/>
                </a:solidFill>
                <a:latin typeface="Arial" pitchFamily="34" charset="0"/>
                <a:ea typeface="Arial" pitchFamily="34" charset="-122"/>
                <a:cs typeface="Arial" pitchFamily="34" charset="-120"/>
              </a:rPr>
              <a:t>Good-suffix rule for Boyer-Moore.</a:t>
            </a:r>
            <a:endParaRPr lang="en-US" sz="1350" dirty="0"/>
          </a:p>
          <a:p>
            <a:pPr algn="l" indent="0" marL="0">
              <a:lnSpc>
                <a:spcPts val="1890"/>
              </a:lnSpc>
              <a:buNone/>
            </a:pPr>
            <a:r>
              <a:rPr lang="en-US" sz="1350" dirty="0">
                <a:solidFill>
                  <a:srgbClr val="1B2130"/>
                </a:solidFill>
                <a:latin typeface="Arial" pitchFamily="34" charset="0"/>
                <a:ea typeface="Arial" pitchFamily="34" charset="-122"/>
                <a:cs typeface="Arial" pitchFamily="34" charset="-120"/>
              </a:rPr>
              <a:t>Multi-pattern search (Aho-Corasick).</a:t>
            </a:r>
            <a:endParaRPr lang="en-US" sz="1350" dirty="0"/>
          </a:p>
          <a:p>
            <a:pPr algn="l" indent="0" marL="0">
              <a:lnSpc>
                <a:spcPts val="1890"/>
              </a:lnSpc>
              <a:buNone/>
            </a:pPr>
            <a:r>
              <a:rPr lang="en-US" sz="1350" dirty="0">
                <a:solidFill>
                  <a:srgbClr val="1B2130"/>
                </a:solidFill>
                <a:latin typeface="Arial" pitchFamily="34" charset="0"/>
                <a:ea typeface="Arial" pitchFamily="34" charset="-122"/>
                <a:cs typeface="Arial" pitchFamily="34" charset="-120"/>
              </a:rPr>
              <a:t>Larger real-world datasets.</a:t>
            </a:r>
            <a:endParaRPr lang="en-US" sz="1350" dirty="0"/>
          </a:p>
        </p:txBody>
      </p:sp>
      <p:sp>
        <p:nvSpPr>
          <p:cNvPr id="12" name="Text 10"/>
          <p:cNvSpPr/>
          <p:nvPr/>
        </p:nvSpPr>
        <p:spPr>
          <a:xfrm>
            <a:off x="812800" y="3285331"/>
            <a:ext cx="10566400" cy="989211"/>
          </a:xfrm>
          <a:prstGeom prst="roundRect">
            <a:avLst>
              <a:gd name="adj" fmla="val 10271"/>
            </a:avLst>
          </a:prstGeom>
          <a:solidFill>
            <a:srgbClr val="151A24"/>
          </a:solidFill>
          <a:ln/>
        </p:spPr>
        <p:txBody>
          <a:bodyPr wrap="square" lIns="224242" tIns="173442" rIns="0" bIns="148042" rtlCol="0" anchor="t">
            <a:normAutofit/>
          </a:bodyPr>
          <a:lstStyle/>
          <a:p>
            <a:pPr algn="l" indent="0" marL="0">
              <a:lnSpc>
                <a:spcPts val="2295"/>
              </a:lnSpc>
              <a:buNone/>
            </a:pPr>
            <a:r>
              <a:rPr lang="en-US" sz="1700" dirty="0">
                <a:solidFill>
                  <a:srgbClr val="F2EFE8"/>
                </a:solidFill>
                <a:latin typeface="Arial" pitchFamily="34" charset="0"/>
                <a:ea typeface="Arial" pitchFamily="34" charset="-122"/>
                <a:cs typeface="Arial" pitchFamily="34" charset="-120"/>
              </a:rPr>
              <a:t>The right algorithm depends on the input, but only linear-time guarantees make a search engine safe. Thank you, Professor, we are happy to take your questions.</a:t>
            </a:r>
            <a:endParaRPr lang="en-US" sz="1700" dirty="0"/>
          </a:p>
        </p:txBody>
      </p:sp>
      <p:sp>
        <p:nvSpPr>
          <p:cNvPr id="13" name="Text 11"/>
          <p:cNvSpPr/>
          <p:nvPr/>
        </p:nvSpPr>
        <p:spPr>
          <a:xfrm>
            <a:off x="812800" y="6238280"/>
            <a:ext cx="17080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25CS2103E · 13 / 13</a:t>
            </a:r>
            <a:endParaRPr lang="en-US" sz="1200" dirty="0"/>
          </a:p>
        </p:txBody>
      </p:sp>
    </p:spTree>
  </p:cSld>
  <p:clrMapOvr>
    <a:masterClrMapping/>
  </p:clrMapOvr>
</p:sld>
</file>

<file path=ppt/theme/theme1.xml><?xml version="1.0" encoding="utf-8"?>
<a:theme xmlns:a="http://schemas.openxmlformats.org/drawingml/2006/main" name="String Matching: Z-Algorithm &amp; Advanced Pattern Matching">
  <a:themeElements>
    <a:clrScheme name="String Matching: Z-Algorithm &amp; Advanced Pattern Matching">
      <a:dk1>
        <a:srgbClr val="1B2130"/>
      </a:dk1>
      <a:lt1>
        <a:srgbClr val="F5F3EE"/>
      </a:lt1>
      <a:dk2>
        <a:srgbClr val="525660"/>
      </a:dk2>
      <a:lt2>
        <a:srgbClr val="DFDEDB"/>
      </a:lt2>
      <a:accent1>
        <a:srgbClr val="B23A35"/>
      </a:accent1>
      <a:accent2>
        <a:srgbClr val="17808F"/>
      </a:accent2>
      <a:accent3>
        <a:srgbClr val="E8776F"/>
      </a:accent3>
      <a:accent4>
        <a:srgbClr val="7FD0DC"/>
      </a:accent4>
      <a:accent5>
        <a:srgbClr val="5B6472"/>
      </a:accent5>
      <a:accent6>
        <a:srgbClr val="AEB6C4"/>
      </a:accent6>
      <a:hlink>
        <a:srgbClr val="0563C1"/>
      </a:hlink>
      <a:folHlink>
        <a:srgbClr val="954F72"/>
      </a:folHlink>
    </a:clrScheme>
    <a:fontScheme name="String Matching: Z-Algorithm &amp; Advanced Pattern Matchi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String Matching: Z-Algorithm &amp; Advanced Pattern Matching</dc:title>
  <dc:subject/>
  <dc:creator/>
  <cp:lastModifiedBy/>
  <cp:revision>1</cp:revision>
  <dcterms:created xsi:type="dcterms:W3CDTF">2026-10-10T13:48:27Z</dcterms:created>
  <dcterms:modified xsi:type="dcterms:W3CDTF">2026-10-10T13:48:27Z</dcterms:modified>
</cp:coreProperties>
</file>